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B7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6–10</c:v>
                  </c:pt>
                  <c:pt idx="1">
                    <c:v>10–14</c:v>
                  </c:pt>
                  <c:pt idx="2">
                    <c:v>14–18</c:v>
                  </c:pt>
                  <c:pt idx="3">
                    <c:v>18–22</c:v>
                  </c:pt>
                  <c:pt idx="4">
                    <c:v>22–26</c:v>
                  </c:pt>
                  <c:pt idx="5">
                    <c:v>26–30</c:v>
                  </c:pt>
                  <c:pt idx="6">
                    <c:v>30–34</c:v>
                  </c:pt>
                  <c:pt idx="7">
                    <c:v>34–38</c:v>
                  </c:pt>
                  <c:pt idx="8">
                    <c:v>38–43</c:v>
                  </c:pt>
                  <c:pt idx="9">
                    <c:v>43+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95</c:v>
                </c:pt>
                <c:pt idx="2">
                  <c:v>68</c:v>
                </c:pt>
                <c:pt idx="3">
                  <c:v>28</c:v>
                </c:pt>
                <c:pt idx="4">
                  <c:v>12</c:v>
                </c:pt>
                <c:pt idx="5">
                  <c:v>35</c:v>
                </c:pt>
                <c:pt idx="6">
                  <c:v>110</c:v>
                </c:pt>
                <c:pt idx="7">
                  <c:v>85</c:v>
                </c:pt>
                <c:pt idx="8">
                  <c:v>55</c:v>
                </c:pt>
                <c:pt idx="9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A7A6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A7A6A"/>
                    </a:solidFill>
                    <a:latin typeface="Arial"/>
                  </a:rPr>
                  <a:t>Heating Load (kWh/m²)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E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A7A6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A7A6A"/>
                    </a:solidFill>
                    <a:latin typeface="Arial"/>
                  </a:rPr>
                  <a:t>Frequency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D46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10–14</c:v>
                  </c:pt>
                  <c:pt idx="1">
                    <c:v>14–18</c:v>
                  </c:pt>
                  <c:pt idx="2">
                    <c:v>18–22</c:v>
                  </c:pt>
                  <c:pt idx="3">
                    <c:v>22–26</c:v>
                  </c:pt>
                  <c:pt idx="4">
                    <c:v>26–30</c:v>
                  </c:pt>
                  <c:pt idx="5">
                    <c:v>30–34</c:v>
                  </c:pt>
                  <c:pt idx="6">
                    <c:v>34–38</c:v>
                  </c:pt>
                  <c:pt idx="7">
                    <c:v>38–42</c:v>
                  </c:pt>
                  <c:pt idx="8">
                    <c:v>42–46</c:v>
                  </c:pt>
                  <c:pt idx="9">
                    <c:v>46+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45</c:v>
                </c:pt>
                <c:pt idx="2">
                  <c:v>90</c:v>
                </c:pt>
                <c:pt idx="3">
                  <c:v>88</c:v>
                </c:pt>
                <c:pt idx="4">
                  <c:v>70</c:v>
                </c:pt>
                <c:pt idx="5">
                  <c:v>95</c:v>
                </c:pt>
                <c:pt idx="6">
                  <c:v>82</c:v>
                </c:pt>
                <c:pt idx="7">
                  <c:v>65</c:v>
                </c:pt>
                <c:pt idx="8">
                  <c:v>38</c:v>
                </c:pt>
                <c:pt idx="9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A7A6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A7A6A"/>
                    </a:solidFill>
                    <a:latin typeface="Arial"/>
                  </a:rPr>
                  <a:t>Cooling Load (kWh/m²)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E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A7A6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A7A6A"/>
                    </a:solidFill>
                    <a:latin typeface="Arial"/>
                  </a:rPr>
                  <a:t>Frequency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Heating Load (Y1)</c:v>
                </c:pt>
              </c:strCache>
            </c:strRef>
          </c:tx>
          <c:spPr>
            <a:solidFill>
              <a:srgbClr val="1B7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X1 Compactness</c:v>
                  </c:pt>
                  <c:pt idx="1">
                    <c:v>X2 Surface Area</c:v>
                  </c:pt>
                  <c:pt idx="2">
                    <c:v>X3 Wall Area</c:v>
                  </c:pt>
                  <c:pt idx="3">
                    <c:v>X4 Roof Area</c:v>
                  </c:pt>
                  <c:pt idx="4">
                    <c:v>X5 Height</c:v>
                  </c:pt>
                  <c:pt idx="5">
                    <c:v>X6 Orientation</c:v>
                  </c:pt>
                  <c:pt idx="6">
                    <c:v>X7 Glazing</c:v>
                  </c:pt>
                  <c:pt idx="7">
                    <c:v>X8 Glazing Dist.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0.62</c:v>
                </c:pt>
                <c:pt idx="1">
                  <c:v>-0.67</c:v>
                </c:pt>
                <c:pt idx="2">
                  <c:v>0.46</c:v>
                </c:pt>
                <c:pt idx="3">
                  <c:v>-0.87</c:v>
                </c:pt>
                <c:pt idx="4">
                  <c:v>0.89</c:v>
                </c:pt>
                <c:pt idx="5">
                  <c:v>0</c:v>
                </c:pt>
                <c:pt idx="6">
                  <c:v>0.27</c:v>
                </c:pt>
                <c:pt idx="7">
                  <c:v>0.08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Cooling Load (Y2)</c:v>
                </c:pt>
              </c:strCache>
            </c:strRef>
          </c:tx>
          <c:spPr>
            <a:solidFill>
              <a:srgbClr val="D46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X1 Compactness</c:v>
                  </c:pt>
                  <c:pt idx="1">
                    <c:v>X2 Surface Area</c:v>
                  </c:pt>
                  <c:pt idx="2">
                    <c:v>X3 Wall Area</c:v>
                  </c:pt>
                  <c:pt idx="3">
                    <c:v>X4 Roof Area</c:v>
                  </c:pt>
                  <c:pt idx="4">
                    <c:v>X5 Height</c:v>
                  </c:pt>
                  <c:pt idx="5">
                    <c:v>X6 Orientation</c:v>
                  </c:pt>
                  <c:pt idx="6">
                    <c:v>X7 Glazing</c:v>
                  </c:pt>
                  <c:pt idx="7">
                    <c:v>X8 Glazing Dist.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0.64</c:v>
                </c:pt>
                <c:pt idx="1">
                  <c:v>-0.67</c:v>
                </c:pt>
                <c:pt idx="2">
                  <c:v>0.42</c:v>
                </c:pt>
                <c:pt idx="3">
                  <c:v>-0.87</c:v>
                </c:pt>
                <c:pt idx="4">
                  <c:v>0.9</c:v>
                </c:pt>
                <c:pt idx="5">
                  <c:v>-0.01</c:v>
                </c:pt>
                <c:pt idx="6">
                  <c:v>0.21</c:v>
                </c:pt>
                <c:pt idx="7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7A6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(Y1)</c:v>
                </c:pt>
              </c:strCache>
            </c:strRef>
          </c:tx>
          <c:spPr>
            <a:solidFill>
              <a:srgbClr val="1B7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F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C49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OLS</c:v>
                  </c:pt>
                  <c:pt idx="1">
                    <c:v>Ridge</c:v>
                  </c:pt>
                  <c:pt idx="2">
                    <c:v>PCR</c:v>
                  </c:pt>
                  <c:pt idx="3">
                    <c:v>Polynomial</c:v>
                  </c:pt>
                  <c:pt idx="4">
                    <c:v>Splines</c:v>
                  </c:pt>
                  <c:pt idx="5">
                    <c:v>GAM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2.05</c:v>
                </c:pt>
                <c:pt idx="1">
                  <c:v>1.98</c:v>
                </c:pt>
                <c:pt idx="2">
                  <c:v>1.95</c:v>
                </c:pt>
                <c:pt idx="3">
                  <c:v>1.52</c:v>
                </c:pt>
                <c:pt idx="4">
                  <c:v>1.38</c:v>
                </c:pt>
                <c:pt idx="5">
                  <c:v>0.92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F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b"/>
        <c:majorGridlines>
          <c:spPr>
            <a:ln w="6350" cap="flat">
              <a:solidFill>
                <a:srgbClr val="E5E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(Y1)</c:v>
                </c:pt>
              </c:strCache>
            </c:strRef>
          </c:tx>
          <c:spPr>
            <a:solidFill>
              <a:srgbClr val="1B7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F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C49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OLS</c:v>
                  </c:pt>
                  <c:pt idx="1">
                    <c:v>Ridge</c:v>
                  </c:pt>
                  <c:pt idx="2">
                    <c:v>PCR</c:v>
                  </c:pt>
                  <c:pt idx="3">
                    <c:v>Polynomial</c:v>
                  </c:pt>
                  <c:pt idx="4">
                    <c:v>Splines</c:v>
                  </c:pt>
                  <c:pt idx="5">
                    <c:v>GAM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0.919</c:v>
                </c:pt>
                <c:pt idx="1">
                  <c:v>0.922</c:v>
                </c:pt>
                <c:pt idx="2">
                  <c:v>0.924</c:v>
                </c:pt>
                <c:pt idx="3">
                  <c:v>0.958</c:v>
                </c:pt>
                <c:pt idx="4">
                  <c:v>0.964</c:v>
                </c:pt>
                <c:pt idx="5">
                  <c:v>0.986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F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8"/>
        </c:scaling>
        <c:delete val="0"/>
        <c:axPos val="b"/>
        <c:majorGridlines>
          <c:spPr>
            <a:ln w="6350" cap="flat">
              <a:solidFill>
                <a:srgbClr val="E5E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22B24"/>
          </a:solidFill>
          <a:ln w="12700">
            <a:solidFill>
              <a:srgbClr val="122B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0" y="0"/>
            <a:ext cx="3611880" cy="5143500"/>
          </a:xfrm>
          <a:prstGeom prst="rect">
            <a:avLst/>
          </a:prstGeom>
          <a:solidFill>
            <a:srgbClr val="122B24"/>
          </a:solidFill>
          <a:ln w="12700">
            <a:solidFill>
              <a:srgbClr val="122B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548640"/>
            <a:ext cx="320040" cy="41148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2512" y="548640"/>
            <a:ext cx="320040" cy="41148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04304" y="548640"/>
            <a:ext cx="320040" cy="41148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6096" y="548640"/>
            <a:ext cx="320040" cy="41148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548640"/>
            <a:ext cx="320040" cy="41148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64008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14300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64592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14884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65176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315468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365760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4160520"/>
            <a:ext cx="3063240" cy="228600"/>
          </a:xfrm>
          <a:prstGeom prst="rect">
            <a:avLst/>
          </a:prstGeom>
          <a:solidFill>
            <a:srgbClr val="1B4A3A"/>
          </a:solidFill>
          <a:ln w="12700">
            <a:solidFill>
              <a:srgbClr val="1B4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240280"/>
            <a:ext cx="3063240" cy="228600"/>
          </a:xfrm>
          <a:prstGeom prst="rect">
            <a:avLst/>
          </a:prstGeom>
          <a:solidFill>
            <a:srgbClr val="00C49A">
              <a:alpha val="50000"/>
            </a:srgbClr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0040" y="1170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32004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Buildings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320040" y="2212848"/>
            <a:ext cx="22860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3591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Modelling Study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2004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Heating &amp; Cooling Loads from Architectural Design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20040" y="3246120"/>
            <a:ext cx="1115568" cy="292608"/>
          </a:xfrm>
          <a:prstGeom prst="rect">
            <a:avLst/>
          </a:prstGeom>
          <a:solidFill>
            <a:srgbClr val="1B7F5E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32461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ENB2012 Dataset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536192" y="3246120"/>
            <a:ext cx="1115568" cy="292608"/>
          </a:xfrm>
          <a:prstGeom prst="rect">
            <a:avLst/>
          </a:prstGeom>
          <a:solidFill>
            <a:srgbClr val="1B7F5E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36192" y="32461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752344" y="3246120"/>
            <a:ext cx="1115568" cy="292608"/>
          </a:xfrm>
          <a:prstGeom prst="rect">
            <a:avLst/>
          </a:prstGeom>
          <a:solidFill>
            <a:srgbClr val="1B7F5E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52344" y="32461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968496" y="3246120"/>
            <a:ext cx="1115568" cy="292608"/>
          </a:xfrm>
          <a:prstGeom prst="rect">
            <a:avLst/>
          </a:prstGeom>
          <a:solidFill>
            <a:srgbClr val="1B7F5E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68496" y="32461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Buildings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0040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Mwikali · Muloma · Vuhyah · Jerono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2004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&amp; Analytics  |  Strathmore University  |  DSA 8305 Linear Models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B7F5E"/>
          </a:solidFill>
          <a:ln w="12700">
            <a:solidFill>
              <a:srgbClr val="1B7F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0" y="4956048"/>
            <a:ext cx="1828800" cy="1874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F1B"/>
          </a:solidFill>
          <a:ln w="12700">
            <a:solidFill>
              <a:srgbClr val="0D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960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" y="1828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consume ~40% of global final energy. Design decisions made at concept stage lock in decades of energy cost. This study quantifies which architectural features matter most — and by how much.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324612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annual heating &amp; cooling loads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359359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488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8 modelling techniques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4106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5488" y="3913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key design drivers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4288536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5488" y="4261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energy-efficient architecture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3429000" y="320040"/>
            <a:ext cx="2331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3429000" y="320040"/>
            <a:ext cx="73152" cy="13258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448056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977640" y="3931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3000" dirty="0"/>
          </a:p>
        </p:txBody>
      </p:sp>
      <p:sp>
        <p:nvSpPr>
          <p:cNvPr id="19" name="Text 11"/>
          <p:cNvSpPr/>
          <p:nvPr/>
        </p:nvSpPr>
        <p:spPr>
          <a:xfrm>
            <a:off x="3593592" y="10698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5989320" y="320040"/>
            <a:ext cx="2331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5989320" y="320040"/>
            <a:ext cx="73152" cy="13258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448056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537960" y="3931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24" name="Text 15"/>
          <p:cNvSpPr/>
          <p:nvPr/>
        </p:nvSpPr>
        <p:spPr>
          <a:xfrm>
            <a:off x="6153912" y="10698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3429000" y="1783080"/>
            <a:ext cx="2331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3429000" y="1783080"/>
            <a:ext cx="73152" cy="13258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1911096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97764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29" name="Text 19"/>
          <p:cNvSpPr/>
          <p:nvPr/>
        </p:nvSpPr>
        <p:spPr>
          <a:xfrm>
            <a:off x="3593592" y="253288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Energy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 Buildings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5989320" y="1783080"/>
            <a:ext cx="2331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5989320" y="1783080"/>
            <a:ext cx="73152" cy="13258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912" y="1911096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53796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34" name="Text 23"/>
          <p:cNvSpPr/>
          <p:nvPr/>
        </p:nvSpPr>
        <p:spPr>
          <a:xfrm>
            <a:off x="6153912" y="253288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3429000" y="3246120"/>
            <a:ext cx="2331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3429000" y="3246120"/>
            <a:ext cx="73152" cy="13258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3592" y="3374136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977640" y="3319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&lt;1.0</a:t>
            </a:r>
            <a:endParaRPr lang="en-US" sz="3000" dirty="0"/>
          </a:p>
        </p:txBody>
      </p:sp>
      <p:sp>
        <p:nvSpPr>
          <p:cNvPr id="39" name="Text 27"/>
          <p:cNvSpPr/>
          <p:nvPr/>
        </p:nvSpPr>
        <p:spPr>
          <a:xfrm>
            <a:off x="3593592" y="39959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(kWh/m²)</a:t>
            </a:r>
            <a:endParaRPr lang="en-US" sz="900" dirty="0"/>
          </a:p>
        </p:txBody>
      </p:sp>
      <p:sp>
        <p:nvSpPr>
          <p:cNvPr id="40" name="Shape 28"/>
          <p:cNvSpPr/>
          <p:nvPr/>
        </p:nvSpPr>
        <p:spPr>
          <a:xfrm>
            <a:off x="5989320" y="3246120"/>
            <a:ext cx="2331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5989320" y="3246120"/>
            <a:ext cx="73152" cy="13258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3912" y="3374136"/>
            <a:ext cx="292608" cy="29260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537960" y="3319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0.95+</a:t>
            </a:r>
            <a:endParaRPr lang="en-US" sz="3000" dirty="0"/>
          </a:p>
        </p:txBody>
      </p:sp>
      <p:sp>
        <p:nvSpPr>
          <p:cNvPr id="44" name="Text 31"/>
          <p:cNvSpPr/>
          <p:nvPr/>
        </p:nvSpPr>
        <p:spPr>
          <a:xfrm>
            <a:off x="6153912" y="39959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1B"/>
          </a:solidFill>
          <a:ln w="12700">
            <a:solidFill>
              <a:srgbClr val="0D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45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ENB2012 DATASET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77240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 |  Tsanas &amp; Xifara (2012)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120640" cy="3200400"/>
        </p:xfrm>
        <a:graphic>
          <a:graphicData uri="http://schemas.openxmlformats.org/drawingml/2006/table">
            <a:tbl>
              <a:tblPr/>
              <a:tblGrid>
                <a:gridCol w="384048"/>
                <a:gridCol w="1691640"/>
                <a:gridCol w="841248"/>
                <a:gridCol w="1289304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5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Compactness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0.62–0.98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Area (m²)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514–808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Area (m²)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245–416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 Area (m²)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110–221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Height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05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or 7.0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/ E / S / 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Glazing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0, 0.10, 0.25, 0.40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Glazing Distribution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005840"/>
            <a:ext cx="3200400" cy="1261872"/>
          </a:xfrm>
          <a:prstGeom prst="rect">
            <a:avLst/>
          </a:prstGeom>
          <a:solidFill>
            <a:srgbClr val="1B7F5E"/>
          </a:solidFill>
          <a:ln/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78992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91072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80644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· Heating Load (kWh/m²)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806440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heating energy demand per unit floor area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669280" y="2359152"/>
            <a:ext cx="3200400" cy="1261872"/>
          </a:xfrm>
          <a:prstGeom prst="rect">
            <a:avLst/>
          </a:prstGeom>
          <a:solidFill>
            <a:srgbClr val="1A5745"/>
          </a:solidFill>
          <a:ln/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32304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0644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· Cooling Load (kWh/m²)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806440" y="2724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cooling energy demand per unit floor area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669280" y="3749040"/>
            <a:ext cx="3200400" cy="1188720"/>
          </a:xfrm>
          <a:prstGeom prst="rect">
            <a:avLst/>
          </a:prstGeom>
          <a:solidFill>
            <a:srgbClr val="FFF8E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813048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44768" y="3822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Structural Notes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5760720" y="4151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X5 is functionally binary (3.5m vs 7.0m)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5760720" y="43982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X6 is nominal — one-hot encoding required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760720" y="4645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missing values — dataset is complete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1B"/>
          </a:solidFill>
          <a:ln w="12700">
            <a:solidFill>
              <a:srgbClr val="0D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TARGET VARIABLE DISTRIBUTIONS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Load (Y1) Distribution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298448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767328"/>
            <a:ext cx="4023360" cy="502920"/>
          </a:xfrm>
          <a:prstGeom prst="rect">
            <a:avLst/>
          </a:prstGeom>
          <a:solidFill>
            <a:srgbClr val="E8F5F0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7856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Bimodal distribution — two peaks correspond to single-storey (low loads) and double-storey (high loads) buildings.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84632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Load (Y2) Distribution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846320" y="1298448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4846320" y="3767328"/>
            <a:ext cx="4023360" cy="502920"/>
          </a:xfrm>
          <a:prstGeom prst="rect">
            <a:avLst/>
          </a:prstGeom>
          <a:solidFill>
            <a:srgbClr val="FFF0E8"/>
          </a:solidFill>
          <a:ln w="12700">
            <a:solidFill>
              <a:srgbClr val="D4621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937760" y="37856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test formally rejects normality (p &lt; 0.001). Both targets show significant positive skew — motivates flexible non-linear models.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1B"/>
          </a:solidFill>
          <a:ln w="12700">
            <a:solidFill>
              <a:srgbClr val="0D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FEATURE CORRELATIONS &amp; MULTICOLLINEARITY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 with Target Variables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32588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715000" y="1005840"/>
            <a:ext cx="32004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715000" y="1005840"/>
            <a:ext cx="73152" cy="1170432"/>
          </a:xfrm>
          <a:prstGeom prst="rect">
            <a:avLst/>
          </a:prstGeom>
          <a:solidFill>
            <a:srgbClr val="1B7F5E"/>
          </a:solidFill>
          <a:ln w="12700">
            <a:solidFill>
              <a:srgbClr val="1B7F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7899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0" y="1078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 Height: Dominant Predictor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833872" y="1426464"/>
            <a:ext cx="2962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0.89 with Y1 and 0.90 with Y2. Single most important architectural decision — doubles internal volume.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715000" y="2286000"/>
            <a:ext cx="32004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715000" y="2286000"/>
            <a:ext cx="73152" cy="1170432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35915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7920" y="2359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Multicollinearity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833872" y="2706624"/>
            <a:ext cx="2962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&amp; X2 correlate at r = −0.99. Compactness and Surface Area are mathematically linked. VIF &gt;&gt; 10.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5715000" y="3566160"/>
            <a:ext cx="32004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715000" y="3566160"/>
            <a:ext cx="73152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639312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7920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 Orientation: Irrelevant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833872" y="3986784"/>
            <a:ext cx="2962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with both targets. Balanced dataset averages out orientation effects.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FRAMEWORK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 ·  Progressive Model Complexity  ·  Each model motivated by the last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1325880" cy="713232"/>
          </a:xfrm>
          <a:prstGeom prst="rect">
            <a:avLst/>
          </a:prstGeom>
          <a:solidFill>
            <a:srgbClr val="1B7F5E"/>
          </a:solidFill>
          <a:ln w="12700">
            <a:solidFill>
              <a:srgbClr val="1B7F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1353312"/>
            <a:ext cx="118872" cy="118872"/>
          </a:xfrm>
          <a:prstGeom prst="rect">
            <a:avLst/>
          </a:prstGeom>
          <a:solidFill>
            <a:srgbClr val="8EADA5"/>
          </a:solidFill>
          <a:ln w="12700">
            <a:solidFill>
              <a:srgbClr val="8EAD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" y="10789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4320" y="1389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19072" y="1051560"/>
            <a:ext cx="1325880" cy="713232"/>
          </a:xfrm>
          <a:prstGeom prst="rect">
            <a:avLst/>
          </a:prstGeom>
          <a:solidFill>
            <a:srgbClr val="1A6E58"/>
          </a:solidFill>
          <a:ln w="12700">
            <a:solidFill>
              <a:srgbClr val="1A6E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44952" y="1353312"/>
            <a:ext cx="118872" cy="118872"/>
          </a:xfrm>
          <a:prstGeom prst="rect">
            <a:avLst/>
          </a:prstGeom>
          <a:solidFill>
            <a:srgbClr val="8EADA5"/>
          </a:solidFill>
          <a:ln w="12700">
            <a:solidFill>
              <a:srgbClr val="8EAD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10789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19072" y="1389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163824" y="1051560"/>
            <a:ext cx="1325880" cy="713232"/>
          </a:xfrm>
          <a:prstGeom prst="rect">
            <a:avLst/>
          </a:prstGeom>
          <a:solidFill>
            <a:srgbClr val="178059"/>
          </a:solidFill>
          <a:ln w="12700">
            <a:solidFill>
              <a:srgbClr val="17805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9704" y="1353312"/>
            <a:ext cx="118872" cy="118872"/>
          </a:xfrm>
          <a:prstGeom prst="rect">
            <a:avLst/>
          </a:prstGeom>
          <a:solidFill>
            <a:srgbClr val="8EADA5"/>
          </a:solidFill>
          <a:ln w="12700">
            <a:solidFill>
              <a:srgbClr val="8EAD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10789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163824" y="1389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08576" y="1051560"/>
            <a:ext cx="1325880" cy="713232"/>
          </a:xfrm>
          <a:prstGeom prst="rect">
            <a:avLst/>
          </a:prstGeom>
          <a:solidFill>
            <a:srgbClr val="149060"/>
          </a:solidFill>
          <a:ln w="12700">
            <a:solidFill>
              <a:srgbClr val="149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4456" y="1353312"/>
            <a:ext cx="118872" cy="118872"/>
          </a:xfrm>
          <a:prstGeom prst="rect">
            <a:avLst/>
          </a:prstGeom>
          <a:solidFill>
            <a:srgbClr val="8EADA5"/>
          </a:solidFill>
          <a:ln w="12700">
            <a:solidFill>
              <a:srgbClr val="8EAD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45152" y="10789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608576" y="1389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053328" y="1051560"/>
            <a:ext cx="1325880" cy="713232"/>
          </a:xfrm>
          <a:prstGeom prst="rect">
            <a:avLst/>
          </a:prstGeom>
          <a:solidFill>
            <a:srgbClr val="11A065"/>
          </a:solidFill>
          <a:ln w="12700">
            <a:solidFill>
              <a:srgbClr val="11A06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79208" y="1353312"/>
            <a:ext cx="118872" cy="118872"/>
          </a:xfrm>
          <a:prstGeom prst="rect">
            <a:avLst/>
          </a:prstGeom>
          <a:solidFill>
            <a:srgbClr val="8EADA5"/>
          </a:solidFill>
          <a:ln w="12700">
            <a:solidFill>
              <a:srgbClr val="8EAD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9904" y="10789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53328" y="1389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498080" y="1051560"/>
            <a:ext cx="1325880" cy="71323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34656" y="10789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98080" y="138988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7432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8-MODEL PROGRESSION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23317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31" name="Shape 28"/>
          <p:cNvSpPr/>
          <p:nvPr/>
        </p:nvSpPr>
        <p:spPr>
          <a:xfrm>
            <a:off x="274320" y="2331720"/>
            <a:ext cx="64008" cy="804672"/>
          </a:xfrm>
          <a:prstGeom prst="rect">
            <a:avLst/>
          </a:prstGeom>
          <a:solidFill>
            <a:srgbClr val="1B7F5E"/>
          </a:solidFill>
          <a:ln w="12700">
            <a:solidFill>
              <a:srgbClr val="1B7F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2336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02336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02336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Baseline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423160" y="23317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36" name="Shape 33"/>
          <p:cNvSpPr/>
          <p:nvPr/>
        </p:nvSpPr>
        <p:spPr>
          <a:xfrm>
            <a:off x="2423160" y="2331720"/>
            <a:ext cx="64008" cy="8046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551176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2551176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551176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(L2)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572000" y="23317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41" name="Shape 38"/>
          <p:cNvSpPr/>
          <p:nvPr/>
        </p:nvSpPr>
        <p:spPr>
          <a:xfrm>
            <a:off x="4572000" y="2331720"/>
            <a:ext cx="64008" cy="804672"/>
          </a:xfrm>
          <a:prstGeom prst="rect">
            <a:avLst/>
          </a:prstGeom>
          <a:solidFill>
            <a:srgbClr val="40B49A"/>
          </a:solidFill>
          <a:ln w="12700">
            <a:solidFill>
              <a:srgbClr val="40B49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00016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700016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700016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720840" y="23317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46" name="Shape 43"/>
          <p:cNvSpPr/>
          <p:nvPr/>
        </p:nvSpPr>
        <p:spPr>
          <a:xfrm>
            <a:off x="6720840" y="2331720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48856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848856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848856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Parametric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274320" y="32461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51" name="Shape 48"/>
          <p:cNvSpPr/>
          <p:nvPr/>
        </p:nvSpPr>
        <p:spPr>
          <a:xfrm>
            <a:off x="274320" y="3246120"/>
            <a:ext cx="64008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02336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402336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Cubic Splines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402336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Smooth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423160" y="32461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56" name="Shape 53"/>
          <p:cNvSpPr/>
          <p:nvPr/>
        </p:nvSpPr>
        <p:spPr>
          <a:xfrm>
            <a:off x="2423160" y="3246120"/>
            <a:ext cx="64008" cy="804672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551176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2551176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2551176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Semi-parametric Flexible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572000" y="32461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61" name="Shape 58"/>
          <p:cNvSpPr/>
          <p:nvPr/>
        </p:nvSpPr>
        <p:spPr>
          <a:xfrm>
            <a:off x="4572000" y="3246120"/>
            <a:ext cx="64008" cy="8046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700016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4700016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4700016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6720840" y="3246120"/>
            <a:ext cx="2029968" cy="8046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66" name="Shape 63"/>
          <p:cNvSpPr/>
          <p:nvPr/>
        </p:nvSpPr>
        <p:spPr>
          <a:xfrm>
            <a:off x="6720840" y="3246120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848856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6848856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6848856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Rules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1B"/>
          </a:solidFill>
          <a:ln w="12700">
            <a:solidFill>
              <a:srgbClr val="0D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— Heating Load (Y1)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  ·  kWh/m²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444752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— Heating Load (Y1)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75488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 ·  Proportion of variance explained</a:t>
            </a:r>
            <a:endParaRPr lang="en-US" sz="9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754880" y="1444752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274320" y="3794760"/>
            <a:ext cx="8595360" cy="841248"/>
          </a:xfrm>
          <a:prstGeom prst="rect">
            <a:avLst/>
          </a:prstGeom>
          <a:solidFill>
            <a:srgbClr val="0D1F1B"/>
          </a:solidFill>
          <a:ln/>
        </p:spPr>
      </p:sp>
      <p:sp>
        <p:nvSpPr>
          <p:cNvPr id="13" name="Shape 8"/>
          <p:cNvSpPr/>
          <p:nvPr/>
        </p:nvSpPr>
        <p:spPr>
          <a:xfrm>
            <a:off x="274320" y="3794760"/>
            <a:ext cx="91440" cy="84124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9436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594360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258568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2258568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RMSE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3922776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3922776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R²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586984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0.95+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586984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251192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−55%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7251192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vs OLS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1B"/>
          </a:solidFill>
          <a:ln w="12700">
            <a:solidFill>
              <a:srgbClr val="0D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0624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73152" cy="1719072"/>
          </a:xfrm>
          <a:prstGeom prst="rect">
            <a:avLst/>
          </a:prstGeom>
          <a:solidFill>
            <a:srgbClr val="1B7F5E"/>
          </a:solidFill>
          <a:ln w="12700">
            <a:solidFill>
              <a:srgbClr val="1B7F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097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972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" y="1508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Height is the #1 Energy Decision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8912" y="18288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Height (X5) shows r ≈ 0.89 with both energy loads — single most powerful predictor. Double-storey buildings require ~2× the energy of equivalent single-storey designs. This decision is made at concept stage and can't be undone after construction.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63440" y="1005840"/>
            <a:ext cx="420624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1005840"/>
            <a:ext cx="73152" cy="1719072"/>
          </a:xfrm>
          <a:prstGeom prst="rect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28032" y="1097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28032" y="1508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Multicollinearity Distorts OLS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828032" y="18288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(Compactness) and X2 (Surface Area) correlate at r = −0.99. VIF values exceed 10×. OLS coefficients are individually unreliable — Ridge &amp; PCR restore stability. Predictions are unbiased; individual coefficient interpretation is not.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74320" y="2834640"/>
            <a:ext cx="420624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834640"/>
            <a:ext cx="73152" cy="1719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38912" y="2926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9260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3337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is Real but Moderate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38912" y="36576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partial dependence plots confirm curved relationships for Glazing Area and Compactness. Polynomial + Spline models outperform OLS by ~25%. Non-linearity is meaningful enough to warrant flexible models in high-stakes decisions.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663440" y="2834640"/>
            <a:ext cx="420624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2834640"/>
            <a:ext cx="73152" cy="171907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28032" y="2926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92608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28032" y="3337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Feasible &amp; Practical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828032" y="36576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Within-group labelling (controlling for height) creates a challenging, meaningful classification task. Logistic Regression and Decision Tree both achieve AUC &gt; 0.95 — enabling go/no-go design decisions without full energy simulation.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1B"/>
          </a:solidFill>
          <a:ln w="12700">
            <a:solidFill>
              <a:srgbClr val="0D1F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GUIDE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24612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4572000"/>
              </a:tblGrid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5E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energy estimate (concept stage)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4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predictive accuracy + interpretable partial dependence plots for design guidance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4F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output; interpretable coefficients; fast inference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exploration (multiple configs)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4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 or 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efficient; robust under multicollinearity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communication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4F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rules; no statistical expertise required by architects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inferential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7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+ 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interpretation with multicollinearity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279392"/>
            <a:ext cx="8595360" cy="658368"/>
          </a:xfrm>
          <a:prstGeom prst="rect">
            <a:avLst/>
          </a:prstGeom>
          <a:solidFill>
            <a:srgbClr val="FFF4E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3434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731520" y="457200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(Ecotect)  ·  Missing: climate zone, insulation spec, HVAC type, occupancy patterns  ·  No interaction modelling  ·  Point predictions only (no prediction intervals yet)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3291840" y="491947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 Efficiency — Statistical Modelling Study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5E"/>
          </a:solidFill>
          <a:ln w="12700">
            <a:solidFill>
              <a:srgbClr val="1B7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502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ENERGY.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783080" y="107899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the future.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783080" y="1600200"/>
            <a:ext cx="4114800" cy="54864"/>
          </a:xfrm>
          <a:prstGeom prst="rect">
            <a:avLst/>
          </a:prstGeom>
          <a:solidFill>
            <a:srgbClr val="1B7F5E"/>
          </a:solidFill>
          <a:ln w="12700">
            <a:solidFill>
              <a:srgbClr val="1B7F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83080" y="175564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decisions made before construction begins determine 50+ years of energy cost. This study provides a statistical lens that converts architectural geometry into quantitative energy predictions — turning intuition into evidence.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783080" y="2743200"/>
            <a:ext cx="2286000" cy="960120"/>
          </a:xfrm>
          <a:prstGeom prst="rect">
            <a:avLst/>
          </a:prstGeom>
          <a:solidFill>
            <a:srgbClr val="122B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1635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gain a quantitative design tool at concept stage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270248" y="2743200"/>
            <a:ext cx="2286000" cy="960120"/>
          </a:xfrm>
          <a:prstGeom prst="rect">
            <a:avLst/>
          </a:prstGeom>
          <a:solidFill>
            <a:srgbClr val="122B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81635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70248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achieves sub-1.0 RMSE — engineering-grade precision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757416" y="2743200"/>
            <a:ext cx="2286000" cy="960120"/>
          </a:xfrm>
          <a:prstGeom prst="rect">
            <a:avLst/>
          </a:prstGeom>
          <a:solidFill>
            <a:srgbClr val="122B2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816352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57416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across East Africa's construction boom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0" y="3886200"/>
            <a:ext cx="9144000" cy="731520"/>
          </a:xfrm>
          <a:prstGeom prst="rect">
            <a:avLst/>
          </a:prstGeom>
          <a:solidFill>
            <a:srgbClr val="0A1915"/>
          </a:solidFill>
          <a:ln w="12700">
            <a:solidFill>
              <a:srgbClr val="0A191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Mwikali  ·  Muloma  ·  Vuhyah  ·  Jerono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7432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&amp; Analytics  |  Strathmore University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858000" y="4114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8305 Linear Models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27432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ENB2012  ·  768 Buildings  ·  8 Models  ·  CRISP-DM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Energy Efficiency — Statistical Modelling Study</dc:title>
  <dc:subject>PptxGenJS Presentation</dc:subject>
  <dc:creator>PptxGenJS</dc:creator>
  <cp:lastModifiedBy>PptxGenJS</cp:lastModifiedBy>
  <cp:revision>1</cp:revision>
  <dcterms:created xsi:type="dcterms:W3CDTF">2026-06-08T14:07:52Z</dcterms:created>
  <dcterms:modified xsi:type="dcterms:W3CDTF">2026-06-08T14:07:52Z</dcterms:modified>
</cp:coreProperties>
</file>