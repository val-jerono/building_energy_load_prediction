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097280"/>
            <a:ext cx="3840480" cy="3840480"/>
          </a:xfrm>
          <a:prstGeom prst="ellipse">
            <a:avLst/>
          </a:prstGeom>
          <a:solidFill>
            <a:srgbClr val="162B58">
              <a:alpha val="60000"/>
            </a:srgbClr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2A5FA5">
              <a:alpha val="40000"/>
            </a:srgbClr>
          </a:solidFill>
          <a:ln w="6350">
            <a:solidFill>
              <a:srgbClr val="C8D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"/>
            <a:ext cx="2011680" cy="292608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2044"/>
                </a:solidFill>
              </a:rPr>
              <a:t>DSA 8305  LINEAR MODELS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A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Buildings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Modelling Study using the ENB2012 Dataset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35808"/>
            <a:ext cx="5943600" cy="0"/>
          </a:xfrm>
          <a:prstGeom prst="line">
            <a:avLst/>
          </a:prstGeom>
          <a:noFill/>
          <a:ln w="6350">
            <a:solidFill>
              <a:srgbClr val="8BA3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Assumpta Mwikali  134022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 Mideva Muloma  135792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Trevor Anjeyo Vuhyah  224038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Valerie Jerono  222331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C"/>
                </a:solidFill>
              </a:rPr>
              <a:t>Strathmore Institute of Mathematical Sciences  |  MSc Data Science and Analytics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5902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C"/>
                </a:solidFill>
              </a:rPr>
              <a:t>Lecturer: Dr. Evans Otieno Omondi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Designing Buildings Before a Brick Is Laid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3566160"/>
          </a:xfrm>
          <a:prstGeom prst="rect">
            <a:avLst/>
          </a:prstGeom>
          <a:solidFill>
            <a:srgbClr val="0F204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60120"/>
            <a:ext cx="3749040" cy="3337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A622"/>
                </a:solidFill>
              </a:rPr>
              <a:t>The Architecture Dilemma
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E8EEFA"/>
                </a:solidFill>
              </a:rPr>
              <a:t>Every geometric decision made on a blank blueprint determines a building's energy consumption for the next 50 years.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8DEFF"/>
                </a:solidFill>
              </a:rPr>
              <a:t>
Height. Compactness. Glazing. Wall configuration.
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E8EEFA"/>
                </a:solidFill>
              </a:rPr>
              <a:t>These choices lock in decades of heating bills and carbon emissions before construction begins.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17720" y="8686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Three Research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298448"/>
            <a:ext cx="4206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298448"/>
            <a:ext cx="82296" cy="914400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353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622"/>
                </a:solidFill>
              </a:rPr>
              <a:t>Regression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73168" y="16093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Can building geometry predict heating and cooling loads?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377440"/>
            <a:ext cx="4206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377440"/>
            <a:ext cx="82296" cy="914400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4323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5FA5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73168" y="26883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Can buildings be labelled high- or low-efficiency before construction?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3456432"/>
            <a:ext cx="4206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3456432"/>
            <a:ext cx="82296" cy="914400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35112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A7A"/>
                </a:solidFill>
              </a:rPr>
              <a:t>Diagnostics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37673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Which features matter most, and are their effects linear or curved?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3CC"/>
                </a:solidFill>
              </a:rPr>
              <a:t>Dataset: ENB2012 (Tsanas and Xifara, 2012)  |  768 building configurations  |  Simulated via Ecotect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ENB2012 Dataset: Eight Features, Two Targets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406908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1005840"/>
                <a:gridCol w="5212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C50"/>
                          </a:solidFill>
                        </a:rPr>
                        <a:t>X1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C50"/>
                          </a:solidFill>
                        </a:rPr>
                        <a:t>Relative Compactness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C50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C50"/>
                          </a:solidFill>
                        </a:rPr>
                        <a:t>Volume-to-surface ratio; higher = more cube-like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F6A"/>
                          </a:solidFill>
                        </a:rPr>
                        <a:t>X2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F6A"/>
                          </a:solidFill>
                        </a:rPr>
                        <a:t>Surface Area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F6A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F6A"/>
                          </a:solidFill>
                        </a:rPr>
                        <a:t>Total external surface in m²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C50"/>
                          </a:solidFill>
                        </a:rPr>
                        <a:t>X3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C50"/>
                          </a:solidFill>
                        </a:rPr>
                        <a:t>Wall Area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C50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C50"/>
                          </a:solidFill>
                        </a:rPr>
                        <a:t>Total wall surface in m²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F6A"/>
                          </a:solidFill>
                        </a:rPr>
                        <a:t>X4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F6A"/>
                          </a:solidFill>
                        </a:rPr>
                        <a:t>Roof Area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F6A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F6A"/>
                          </a:solidFill>
                        </a:rPr>
                        <a:t>Roof surface in m²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C50"/>
                          </a:solidFill>
                        </a:rPr>
                        <a:t>X5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C50"/>
                          </a:solidFill>
                        </a:rPr>
                        <a:t>Overall Height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C50"/>
                          </a:solidFill>
                        </a:rPr>
                        <a:t>Binary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C50"/>
                          </a:solidFill>
                        </a:rPr>
                        <a:t>3.5 m (single) or 7.0 m (double storey)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F6A"/>
                          </a:solidFill>
                        </a:rPr>
                        <a:t>X6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F6A"/>
                          </a:solidFill>
                        </a:rPr>
                        <a:t>Orientation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F6A"/>
                          </a:solidFill>
                        </a:rPr>
                        <a:t>Nominal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F6A"/>
                          </a:solidFill>
                        </a:rPr>
                        <a:t>Cardinal direction: N, E, S, W (one-hot encoded)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C50"/>
                          </a:solidFill>
                        </a:rPr>
                        <a:t>X7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C50"/>
                          </a:solidFill>
                        </a:rPr>
                        <a:t>Glazing Area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C50"/>
                          </a:solidFill>
                        </a:rPr>
                        <a:t>Continuous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C50"/>
                          </a:solidFill>
                        </a:rPr>
                        <a:t>Proportion of floor area glazed (0 to 0.4)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F6A"/>
                          </a:solidFill>
                        </a:rPr>
                        <a:t>X8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F6A"/>
                          </a:solidFill>
                        </a:rPr>
                        <a:t>Glazing Distribution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F6A"/>
                          </a:solidFill>
                        </a:rPr>
                        <a:t>Ordinal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F6A"/>
                          </a:solidFill>
                        </a:rPr>
                        <a:t>How glazing is spread across facades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Y1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Heating Load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Response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Annual heating energy in kWh/m²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Y2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Cooling Load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Response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2044"/>
                          </a:solidFill>
                        </a:rPr>
                        <a:t>Annual cooling energy in kWh/m²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62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347472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1005840"/>
                <a:gridCol w="5212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CRISP-DM Framework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572768" y="1828800"/>
            <a:ext cx="146304" cy="0"/>
          </a:xfrm>
          <a:prstGeom prst="line">
            <a:avLst/>
          </a:prstGeom>
          <a:noFill/>
          <a:ln w="19050">
            <a:solidFill>
              <a:srgbClr val="8BA3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1261872" cy="2057400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41248"/>
            <a:ext cx="126187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Business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Understanding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953512"/>
            <a:ext cx="126187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953512"/>
            <a:ext cx="126187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Define regression,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classification 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diagnostic goals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0" y="1828800"/>
            <a:ext cx="146304" cy="0"/>
          </a:xfrm>
          <a:prstGeom prst="line">
            <a:avLst/>
          </a:prstGeom>
          <a:noFill/>
          <a:ln w="19050">
            <a:solidFill>
              <a:srgbClr val="8BA3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19072" y="804672"/>
            <a:ext cx="1261872" cy="2057400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19072" y="841248"/>
            <a:ext cx="126187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Understanding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19072" y="2953512"/>
            <a:ext cx="126187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19072" y="2953512"/>
            <a:ext cx="126187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Distributions, correlations,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multicollinearity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assessment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62272" y="1828800"/>
            <a:ext cx="146304" cy="0"/>
          </a:xfrm>
          <a:prstGeom prst="line">
            <a:avLst/>
          </a:prstGeom>
          <a:noFill/>
          <a:ln w="19050">
            <a:solidFill>
              <a:srgbClr val="8BA3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63824" y="804672"/>
            <a:ext cx="1261872" cy="2057400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63824" y="841248"/>
            <a:ext cx="126187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Preparation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63824" y="2953512"/>
            <a:ext cx="126187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63824" y="2953512"/>
            <a:ext cx="126187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One-hot encoding,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train-test split,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standardisation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07024" y="1828800"/>
            <a:ext cx="146304" cy="0"/>
          </a:xfrm>
          <a:prstGeom prst="line">
            <a:avLst/>
          </a:prstGeom>
          <a:noFill/>
          <a:ln w="19050">
            <a:solidFill>
              <a:srgbClr val="8BA3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804672"/>
            <a:ext cx="1261872" cy="20574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08576" y="841248"/>
            <a:ext cx="126187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Modelling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2953512"/>
            <a:ext cx="126187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2953512"/>
            <a:ext cx="126187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OLS, Ridge, PCR,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Polynomial, Splines,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GAM, Classification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51776" y="1828800"/>
            <a:ext cx="146304" cy="0"/>
          </a:xfrm>
          <a:prstGeom prst="line">
            <a:avLst/>
          </a:prstGeom>
          <a:noFill/>
          <a:ln w="19050">
            <a:solidFill>
              <a:srgbClr val="8BA3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53328" y="804672"/>
            <a:ext cx="1261872" cy="2057400"/>
          </a:xfrm>
          <a:prstGeom prst="rect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53328" y="841248"/>
            <a:ext cx="126187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53328" y="2953512"/>
            <a:ext cx="126187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2953512"/>
            <a:ext cx="126187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RMSE, R², AUC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Diagnostic plots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Model comparison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98080" y="804672"/>
            <a:ext cx="1261872" cy="2057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98080" y="841248"/>
            <a:ext cx="126187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Deployment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Conclusions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98080" y="2953512"/>
            <a:ext cx="126187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953512"/>
            <a:ext cx="126187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Architectural 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statistical insights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documented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4480560"/>
            <a:ext cx="7132320" cy="0"/>
          </a:xfrm>
          <a:prstGeom prst="line">
            <a:avLst/>
          </a:prstGeom>
          <a:noFill/>
          <a:ln w="7620">
            <a:solidFill>
              <a:srgbClr val="8BA3CC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274320" y="46634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3CC"/>
                </a:solidFill>
              </a:rPr>
              <a:t>Iterative: Evaluation findings often loop back to Data Preparation or Modelling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C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C50"/>
          </a:solidFill>
          <a:ln w="12700">
            <a:solidFill>
              <a:srgbClr val="1A2C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27432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0F2044">
                    <a:alpha val="40000"/>
                  </a:srgbClr>
                </a:solidFill>
              </a:rPr>
              <a:t>01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 and multicollinearity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Distributions: The Hidden Structure in the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3840480" cy="3931920"/>
          </a:xfrm>
          <a:prstGeom prst="rect">
            <a:avLst/>
          </a:prstGeom>
          <a:solidFill>
            <a:srgbClr val="0F204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96112"/>
            <a:ext cx="3520440" cy="3749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A622"/>
                </a:solidFill>
              </a:rPr>
              <a:t>What the distributions reveal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8EEFA"/>
                </a:solidFill>
              </a:rPr>
              <a:t>Both Heating Load (Y1) and Cooling Load (Y2) show </a:t>
            </a:r>
            <a:pPr indent="0" marL="0">
              <a:buNone/>
            </a:pPr>
            <a:r>
              <a:rPr lang="en-US" sz="1100" b="1" dirty="0">
                <a:solidFill>
                  <a:srgbClr val="C8DEFF"/>
                </a:solidFill>
              </a:rPr>
              <a:t>bimodal distributions</a:t>
            </a:r>
            <a:pPr indent="0" marL="0">
              <a:buNone/>
            </a:pPr>
            <a:r>
              <a:rPr lang="en-US" sz="1100" dirty="0">
                <a:solidFill>
                  <a:srgbClr val="E8EEFA"/>
                </a:solidFill>
              </a:rPr>
              <a:t> -- two distinct humps rather than a single bell curve.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8DEFF"/>
                </a:solidFill>
              </a:rPr>
              <a:t>Why two humps?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8EEFA"/>
                </a:solidFill>
              </a:rPr>
              <a:t>X5 (Overall Height) takes only two values: 3.5 m and 7.0 m. Taller buildings consume substantially more energy, creating two distinct energy clusters.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A622"/>
                </a:solidFill>
              </a:rPr>
              <a:t>Statistical implication: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8EEFA"/>
                </a:solidFill>
              </a:rPr>
              <a:t>Shapiro-Wilk formally rejects normality for both responses (p &lt; 10⁻²⁰). OLS t-tests cannot be trusted blindly -- residuals must be inspected after fitting.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43400" y="841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Heating Load (Y1) Distribution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566928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23500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3CC"/>
                </a:solidFill>
              </a:rPr>
              <a:t>6-12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001768" y="1325880"/>
            <a:ext cx="566928" cy="10058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23500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3CC"/>
                </a:solidFill>
              </a:rPr>
              <a:t>12-18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660136" y="2057400"/>
            <a:ext cx="566928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0136" y="23500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3CC"/>
                </a:solidFill>
              </a:rPr>
              <a:t>18-24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318504" y="1874520"/>
            <a:ext cx="566928" cy="457200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23500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3CC"/>
                </a:solidFill>
              </a:rPr>
              <a:t>24-30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976872" y="1143000"/>
            <a:ext cx="566928" cy="1188720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23500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3CC"/>
                </a:solidFill>
              </a:rPr>
              <a:t>30-36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635240" y="1874520"/>
            <a:ext cx="566928" cy="457200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23500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3CC"/>
                </a:solidFill>
              </a:rPr>
              <a:t>36-43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343400" y="2331720"/>
            <a:ext cx="4572000" cy="0"/>
          </a:xfrm>
          <a:prstGeom prst="line">
            <a:avLst/>
          </a:prstGeom>
          <a:noFill/>
          <a:ln w="10160">
            <a:solidFill>
              <a:srgbClr val="AABB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59689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C"/>
                </a:solidFill>
              </a:rPr>
              <a:t>kWh/m²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43400" y="28346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3CC"/>
                </a:solidFill>
              </a:rPr>
              <a:t>Blue = 3.5 m buildings     Amber = 7.0 m buildings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43400" y="3154680"/>
            <a:ext cx="4480560" cy="1554480"/>
          </a:xfrm>
          <a:prstGeom prst="rect">
            <a:avLst/>
          </a:prstGeom>
          <a:solidFill>
            <a:srgbClr val="EDF4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0" y="3246120"/>
            <a:ext cx="40690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Key Finding: </a:t>
            </a:r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The two height groups create two energy clusters. This bimodality makes the high/low efficiency split physically meaningful -- not arbitrary. It also sets the stage for interaction effects that purely additive models will miss.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Multicollinearity: When Geometry Creates Statistical Problems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</a:rPr>
              <a:t>Variance Inflation Factors (VIF)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70432"/>
          <a:ext cx="4114800" cy="3200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91440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VIF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Surface Area (X2)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5F4B"/>
                          </a:solidFill>
                        </a:rPr>
                        <a:t>Infinite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5F4B"/>
                          </a:solidFill>
                        </a:rPr>
                        <a:t>Critical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Wall Area (X3)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5F4B"/>
                          </a:solidFill>
                        </a:rPr>
                        <a:t>Infinite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5F4B"/>
                          </a:solidFill>
                        </a:rPr>
                        <a:t>Critical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Roof Area (X4)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5F4B"/>
                          </a:solidFill>
                        </a:rPr>
                        <a:t>Infinite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5F4B"/>
                          </a:solidFill>
                        </a:rPr>
                        <a:t>Critical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Rel. Compactness (X1)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</a:rPr>
                        <a:t>105.5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</a:rPr>
                        <a:t>Severe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Overall Height (X5)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31.2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Glazing Area (X7)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8A7A"/>
                          </a:solidFill>
                        </a:rPr>
                        <a:t>1.8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8A7A"/>
                          </a:solidFill>
                        </a:rPr>
                        <a:t>Safe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Glazing Distribution (X8)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8A7A"/>
                          </a:solidFill>
                        </a:rPr>
                        <a:t>1.6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8A7A"/>
                          </a:solidFill>
                        </a:rPr>
                        <a:t>Safe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617720" y="804672"/>
            <a:ext cx="4206240" cy="4160520"/>
          </a:xfrm>
          <a:prstGeom prst="rect">
            <a:avLst/>
          </a:prstGeom>
          <a:solidFill>
            <a:srgbClr val="0F204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73168" y="896112"/>
            <a:ext cx="3886200" cy="3931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A622"/>
                </a:solidFill>
              </a:rPr>
              <a:t>Why does this happen?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8EEFA"/>
                </a:solidFill>
              </a:rPr>
              <a:t>This is not a data quality problem -- it is </a:t>
            </a:r>
            <a:pPr indent="0" marL="0">
              <a:buNone/>
            </a:pPr>
            <a:r>
              <a:rPr lang="en-US" sz="1050" b="1" dirty="0">
                <a:solidFill>
                  <a:srgbClr val="C8DEFF"/>
                </a:solidFill>
              </a:rPr>
              <a:t>geometric reality</a:t>
            </a:r>
            <a:pPr indent="0" marL="0">
              <a:buNone/>
            </a:pPr>
            <a:r>
              <a:rPr lang="en-US" sz="1050" dirty="0">
                <a:solidFill>
                  <a:srgbClr val="E8EEFA"/>
                </a:solidFill>
              </a:rPr>
              <a:t>. A compact building has less surface area per unit volume. Roof area scales with footprint, which is constrained by compactness.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A622"/>
                </a:solidFill>
              </a:rPr>
              <a:t>The statistical consequence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8EEFA"/>
                </a:solidFill>
              </a:rPr>
              <a:t>The OLS estimator requires inverting X'X. When predictors are perfectly correlated, X'X becomes singular. Near-perfect correlation inflates standard errors, making individual t-tests unreliable even when overall predictions remain reasonable.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A622"/>
                </a:solidFill>
              </a:rPr>
              <a:t>The prescribed remedies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8EEFA"/>
                </a:solidFill>
              </a:rPr>
              <a:t>Ridge Regression and Principal Components Regression are designed specifically to handle this structure -- each from a different mathematical angle.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C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C50"/>
          </a:solidFill>
          <a:ln w="12700">
            <a:solidFill>
              <a:srgbClr val="1A2C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27432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0F2044">
                    <a:alpha val="40000"/>
                  </a:srgbClr>
                </a:solidFill>
              </a:rPr>
              <a:t>02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splitting and standardisation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 for Modelling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91440" cy="1261872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9611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One-Hot Encoding: Orientation (X6)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188720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Orientation takes values 2, 3, 4, 5 -- codes for N, E, S, W. Treating these as continuous numbers would imply cardinal directions have a mathematical order, which is physically meaningless.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We one-hot encode into three binary columns, dropping one direction as the reference category to avoid the dummy variable trap: if all four dummies are included, they sum to 1 in every row -- perfect collinearity with the model intercept.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85953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94560"/>
            <a:ext cx="91440" cy="1261872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2860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Train-Test Split (80/20, Stratified)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578608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We split 80% for training and 20% for testing, stratified by load quantile. Stratification preserves the bimodal distribution in both sets -- without it, one set might contain disproportionately many high-load buildings.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584448"/>
            <a:ext cx="85953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584448"/>
            <a:ext cx="91440" cy="1261872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6758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Standardisation (Where Required)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968496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Standardisation (zero mean, unit variance) is applied only for Ridge Regression, PCR, and GAM -- models where coefficient magnitudes are either penalised or compared across features.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OLS is fit on original scales for coefficient interpretability.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C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C50"/>
          </a:solidFill>
          <a:ln w="12700">
            <a:solidFill>
              <a:srgbClr val="1A2C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27432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0F2044">
                    <a:alpha val="40000"/>
                  </a:srgbClr>
                </a:solidFill>
              </a:rPr>
              <a:t>03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progression from baseline to flexible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Ordinary Least Squares -- The Parametric Baseline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3931920" cy="4069080"/>
          </a:xfrm>
          <a:prstGeom prst="rect">
            <a:avLst/>
          </a:prstGeom>
          <a:solidFill>
            <a:srgbClr val="0F204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96112"/>
            <a:ext cx="3611880" cy="3840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A622"/>
                </a:solidFill>
              </a:rPr>
              <a:t>The Classical Linear Model
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8DEFF"/>
                </a:solidFill>
              </a:rPr>
              <a:t>Y = Xβ + ε,  ε ~ N(0, σ²I)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8EEFA"/>
                </a:solidFill>
              </a:rPr>
              <a:t>OLS minimises the Residual Sum of Squares to produce: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DEFF"/>
                </a:solidFill>
              </a:rPr>
              <a:t>β̂ = (X'X)⁻¹ X'y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8EEFA"/>
                </a:solidFill>
              </a:rPr>
              <a:t>Under the Gauss-Markov assumptions, this is the Best Linear Unbiased Estimator (BLUE) -- no other linear unbiased estimator has smaller variance.
</a:t>
            </a:r>
            <a:endParaRPr lang="en-US" sz="1300" dirty="0"/>
          </a:p>
          <a:p>
            <a:pPr indent="0" marL="0">
              <a:buNone/>
            </a:pPr>
            <a:r>
              <a:rPr lang="en-US" sz="1050" b="1" dirty="0">
                <a:solidFill>
                  <a:srgbClr val="F4A622"/>
                </a:solidFill>
              </a:rPr>
              <a:t>Diagnostic plots to inspect: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E8EEFA"/>
                </a:solidFill>
              </a:rPr>
              <a:t>Residuals vs Fitted (non-linearity), Normal Q-Q (tail behaviour), Scale-Location (heteroskedasticity), Actual vs Predicted (calibration)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07408" y="841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</a:rPr>
              <a:t>Performance on Test Set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07408" y="1207008"/>
            <a:ext cx="4480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07408" y="1207008"/>
            <a:ext cx="82296" cy="1005840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2984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Heating Load (Y1)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6093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RMSE  2.72 kWh/m²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0" y="186537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R²  =  0.924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07408" y="2377440"/>
            <a:ext cx="4480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07408" y="2377440"/>
            <a:ext cx="82296" cy="1005840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4688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Cooling Load (Y2)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77977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RMSE  3.21 kWh/m²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30358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R²  =  0.888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07408" y="3611880"/>
            <a:ext cx="4480560" cy="1261872"/>
          </a:xfrm>
          <a:prstGeom prst="rect">
            <a:avLst/>
          </a:prstGeom>
          <a:solidFill>
            <a:srgbClr val="FFF7E6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3703320"/>
            <a:ext cx="41605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5F4B"/>
                </a:solidFill>
              </a:rPr>
              <a:t>Limitation: </a:t>
            </a:r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A high R² does not mean the model is well-specified. The bimodal response and multicollinearity create residual patterns that signal missing non-linear structure -- the motivation for every model that follows.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Ridge Regression -- Addressing Multicollinearity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1170432"/>
          </a:xfrm>
          <a:prstGeom prst="rect">
            <a:avLst/>
          </a:prstGeom>
          <a:solidFill>
            <a:srgbClr val="0F204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2"/>
                </a:solidFill>
              </a:rPr>
              <a:t>The Mathematical Fix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A"/>
                </a:solidFill>
              </a:rPr>
              <a:t>Ridge adds an L2 penalty on coefficient magnitudes to the OLS objective: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DEFF"/>
                </a:solidFill>
              </a:rPr>
              <a:t>min  ||y - Xβ||² + λ||β||²     →     Solution: (X'X + λI)⁻¹ X'y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084832"/>
            <a:ext cx="4297680" cy="804672"/>
          </a:xfrm>
          <a:prstGeom prst="rect">
            <a:avLst/>
          </a:prstGeom>
          <a:solidFill>
            <a:srgbClr val="EDF4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21408"/>
            <a:ext cx="41605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Key insight: </a:t>
            </a:r>
            <a:pPr indent="0" marL="0">
              <a:buNone/>
            </a:pPr>
            <a:r>
              <a:rPr lang="en-US" sz="1000" dirty="0">
                <a:solidFill>
                  <a:srgbClr val="1A2C50"/>
                </a:solidFill>
              </a:rPr>
              <a:t>Adding λI to X'X guarantees invertibility even when X'X is near-singular. This is the direct mathematical fix for multicollinearity. The CV-optimal λ trades a small amount of bias for a meaningful reduction in variance.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999232"/>
            <a:ext cx="429768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30723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</a:rPr>
              <a:t>Coefficient Path Plot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" y="3364992"/>
            <a:ext cx="3977640" cy="12984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Each line tracks one predictor's coefficient as λ increases from near-zero (OLS values: large and unstable) to very large (all coefficients shrunk to zero). The CV-optimal λ marks where chaotic collinear coefficients stabilise without over-penalising genuinely important predictors.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4828032"/>
            <a:ext cx="4297680" cy="274320"/>
          </a:xfrm>
          <a:prstGeom prst="rect">
            <a:avLst/>
          </a:prstGeom>
          <a:solidFill>
            <a:srgbClr val="DFFAF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84632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D35"/>
                </a:solidFill>
              </a:rPr>
              <a:t>Result: RMSE = 2.72 (Y1)  |  R² = 0.924  -- marginally better than OLS on the test set.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3695700"/>
            <a:ext cx="3474720" cy="144780"/>
          </a:xfrm>
          <a:prstGeom prst="line">
            <a:avLst/>
          </a:prstGeom>
          <a:noFill/>
          <a:ln w="19050">
            <a:solidFill>
              <a:srgbClr val="D95F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843784"/>
            <a:ext cx="3474720" cy="996696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438144"/>
            <a:ext cx="3474720" cy="402336"/>
          </a:xfrm>
          <a:prstGeom prst="line">
            <a:avLst/>
          </a:prstGeom>
          <a:noFill/>
          <a:ln w="19050">
            <a:solidFill>
              <a:srgbClr val="F4A6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764536"/>
            <a:ext cx="3474720" cy="1075944"/>
          </a:xfrm>
          <a:prstGeom prst="line">
            <a:avLst/>
          </a:prstGeom>
          <a:noFill/>
          <a:ln w="19050">
            <a:solidFill>
              <a:srgbClr val="1E8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358896"/>
            <a:ext cx="3474720" cy="481584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02280"/>
            <a:ext cx="3474720" cy="838200"/>
          </a:xfrm>
          <a:prstGeom prst="line">
            <a:avLst/>
          </a:prstGeom>
          <a:noFill/>
          <a:ln w="19050">
            <a:solidFill>
              <a:srgbClr val="2A5F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57416" y="2651760"/>
            <a:ext cx="0" cy="2011680"/>
          </a:xfrm>
          <a:prstGeom prst="line">
            <a:avLst/>
          </a:prstGeom>
          <a:noFill/>
          <a:ln w="19050">
            <a:solidFill>
              <a:srgbClr val="D95F4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830568" y="27249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5F4B"/>
                </a:solidFill>
              </a:rPr>
              <a:t>λ (CV optimal)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4709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466"/>
                </a:solidFill>
              </a:rPr>
              <a:t>Regularisation strength λ  →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3: Principal Components Regression -- A Geometric Solution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1371600"/>
          </a:xfrm>
          <a:prstGeom prst="rect">
            <a:avLst/>
          </a:prstGeom>
          <a:solidFill>
            <a:srgbClr val="0F204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27532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A622"/>
                </a:solidFill>
              </a:rPr>
              <a:t>A Different Approach to Collinearity
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8EEFA"/>
                </a:solidFill>
              </a:rPr>
              <a:t>PCR first transforms correlated predictors into uncorrelated, orthogonal axes (principal components -- eigenvectors of X'X ordered by variance explained), then regresses Y on the first k components. Multicollinearity is geometrically eliminated by construction.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3591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Variance Explained by Component (Scree)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2542032"/>
            <a:ext cx="402336" cy="1280160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384962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C"/>
                </a:solidFill>
              </a:rPr>
              <a:t>PC1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7472" y="25786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52%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68680" y="3280586"/>
            <a:ext cx="402336" cy="541606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84962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C"/>
                </a:solidFill>
              </a:rPr>
              <a:t>PC2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68680" y="331716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22%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389888" y="3576007"/>
            <a:ext cx="402336" cy="246185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9888" y="384962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C"/>
                </a:solidFill>
              </a:rPr>
              <a:t>PC3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389888" y="3374839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466"/>
                </a:solidFill>
              </a:rPr>
              <a:t>10%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911096" y="3674481"/>
            <a:ext cx="402336" cy="147711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11096" y="384962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C"/>
                </a:solidFill>
              </a:rPr>
              <a:t>PC4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11096" y="3473313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466"/>
                </a:solidFill>
              </a:rPr>
              <a:t>6%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432304" y="3723718"/>
            <a:ext cx="402336" cy="98474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32304" y="384962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C"/>
                </a:solidFill>
              </a:rPr>
              <a:t>PC5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432304" y="352255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466"/>
                </a:solidFill>
              </a:rPr>
              <a:t>4%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953512" y="3765570"/>
            <a:ext cx="402336" cy="56622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53512" y="384962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C"/>
                </a:solidFill>
              </a:rPr>
              <a:t>PC6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53512" y="356440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466"/>
                </a:solidFill>
              </a:rPr>
              <a:t>2.3%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474720" y="3772955"/>
            <a:ext cx="402336" cy="49237"/>
          </a:xfrm>
          <a:prstGeom prst="rect">
            <a:avLst/>
          </a:prstGeom>
          <a:solidFill>
            <a:srgbClr val="8BA3CC"/>
          </a:solidFill>
          <a:ln w="12700">
            <a:solidFill>
              <a:srgbClr val="8BA3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84962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C"/>
                </a:solidFill>
              </a:rPr>
              <a:t>PC7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474720" y="3571787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466"/>
                </a:solidFill>
              </a:rPr>
              <a:t>2%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995928" y="3780341"/>
            <a:ext cx="402336" cy="41851"/>
          </a:xfrm>
          <a:prstGeom prst="rect">
            <a:avLst/>
          </a:prstGeom>
          <a:solidFill>
            <a:srgbClr val="8BA3CC"/>
          </a:solidFill>
          <a:ln w="12700">
            <a:solidFill>
              <a:srgbClr val="8BA3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95928" y="384962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C"/>
                </a:solidFill>
              </a:rPr>
              <a:t>PC8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995928" y="3579173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466"/>
                </a:solidFill>
              </a:rPr>
              <a:t>1.7%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74320" y="405993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3CC"/>
                </a:solidFill>
              </a:rPr>
              <a:t>6 components explain 96.3% of X-variance  --  CV selects k = 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2359152"/>
            <a:ext cx="4114800" cy="2514600"/>
          </a:xfrm>
          <a:prstGeom prst="rect">
            <a:avLst/>
          </a:prstGeom>
          <a:solidFill>
            <a:srgbClr val="FFF7E6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19472" y="24505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F4B"/>
                </a:solidFill>
              </a:rPr>
              <a:t>The Honest Result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9472" y="2779776"/>
            <a:ext cx="3794760" cy="19933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PCR test RMSE = 3.27 for Y1 -- slightly </a:t>
            </a:r>
            <a:pPr indent="0" marL="0">
              <a:buNone/>
            </a:pPr>
            <a:r>
              <a:rPr lang="en-US" sz="1050" b="1" dirty="0">
                <a:solidFill>
                  <a:srgbClr val="D95F4B"/>
                </a:solidFill>
              </a:rPr>
              <a:t>worse</a:t>
            </a:r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 than OLS (2.72).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PCR is not guaranteed to outperform OLS. The discarded components here contain signal relevant to Y even though they carry low variance in X.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The lesson: </a:t>
            </a:r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variance in X and covariance with Y are different things. PCA optimises for the former; prediction requires the latter.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4: Polynomial Regression -- Non-linear Parametric Extension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5029200" cy="1572768"/>
          </a:xfrm>
          <a:prstGeom prst="rect">
            <a:avLst/>
          </a:prstGeom>
          <a:solidFill>
            <a:srgbClr val="0F204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7782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2"/>
                </a:solidFill>
              </a:rPr>
              <a:t>Non-linear in X, Linear in Parameters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18872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EFF"/>
                </a:solidFill>
              </a:rPr>
              <a:t>Y = β₀ + β₁x + β₂x² + ... + β_d x^d + 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499616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A"/>
                </a:solidFill>
              </a:rPr>
              <a:t>Non-linear in x but linear in (β₀,...,β_d) -- estimated by OLS on an expanded feature matrix. Belongs squarely within the linear models framework.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40680" y="841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CV-RMSE by Polynomial Degree (Heating Load)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305154"/>
            <a:ext cx="530352" cy="1575206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35087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2.72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29352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466"/>
                </a:solidFill>
              </a:rPr>
              <a:t>d=1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63056" y="1664208"/>
            <a:ext cx="530352" cy="1216152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17099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63056" y="29352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466"/>
                </a:solidFill>
              </a:rPr>
              <a:t>d=2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39712" y="1808988"/>
            <a:ext cx="530352" cy="1071372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18547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1.85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39712" y="29352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466"/>
                </a:solidFill>
              </a:rPr>
              <a:t>d=3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516368" y="1895856"/>
            <a:ext cx="530352" cy="984504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16368" y="194157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16368" y="29352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466"/>
                </a:solidFill>
              </a:rPr>
              <a:t>d=4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193024" y="1953768"/>
            <a:ext cx="530352" cy="926592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93024" y="19994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93024" y="29352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466"/>
                </a:solidFill>
              </a:rPr>
              <a:t>d=5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40680" y="2880360"/>
            <a:ext cx="3474720" cy="0"/>
          </a:xfrm>
          <a:prstGeom prst="line">
            <a:avLst/>
          </a:prstGeom>
          <a:noFill/>
          <a:ln w="10160">
            <a:solidFill>
              <a:srgbClr val="AABB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1455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F4A622"/>
                </a:solidFill>
              </a:rPr>
              <a:t>Optimal: Degree 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40680" y="3127248"/>
            <a:ext cx="34290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40680" y="3127248"/>
            <a:ext cx="73152" cy="475488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31638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Heating Load (Y1)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77840" y="33649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RMSE 1.60  |  R² 0.974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40680" y="3675888"/>
            <a:ext cx="34290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40680" y="3675888"/>
            <a:ext cx="73152" cy="475488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3712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Cooling Load (Y2)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77840" y="39136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RMSE 2.18  |  R² 0.949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395728"/>
            <a:ext cx="50292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38912" y="248716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Why the improvement?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38912" y="2761488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The LOWESS diagnostic plots showed curved relationships. A degree-5 polynomial with Ridge regularisation is flexible enough to capture these curves while controlling the expansion of hundreds of interaction terms.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657600"/>
            <a:ext cx="50292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38912" y="374904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The risk: Overfitting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38912" y="402336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Degree 5 with all interaction terms produces hundreds of features. Ridge regularisation is applied inside the pipeline to prevent the model from memorising training noise.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5: Regression Splines -- Piecewise Polynomial Smoothing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1188720"/>
          </a:xfrm>
          <a:prstGeom prst="rect">
            <a:avLst/>
          </a:prstGeom>
          <a:solidFill>
            <a:srgbClr val="0F204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27532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A622"/>
                </a:solidFill>
              </a:rPr>
              <a:t>Splines: Local Flexibility with Global Smoothness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8EEFA"/>
                </a:solidFill>
              </a:rPr>
              <a:t>Splines are piecewise polynomial functions joined smoothly at knot points. A natural cubic spline is cubic between knots and linear beyond the outermost knots -- preventing the erratic extrapolation of high-degree global polynomials. Written as a linear combination of B-spline basis functions, this converts a non-parametric problem back into OLS on an expanded matrix.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121408"/>
            <a:ext cx="274320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21408"/>
            <a:ext cx="2743200" cy="402336"/>
          </a:xfrm>
          <a:prstGeom prst="rect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121408"/>
            <a:ext cx="22860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 df -- High Bias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2194560"/>
            <a:ext cx="749808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21945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UNDERFIT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84048" y="2596896"/>
            <a:ext cx="2523744" cy="1325880"/>
          </a:xfrm>
          <a:prstGeom prst="rect">
            <a:avLst/>
          </a:prstGeom>
          <a:solidFill>
            <a:srgbClr val="F0F4FA"/>
          </a:solidFill>
          <a:ln w="6350">
            <a:solidFill>
              <a:srgbClr val="C8D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950208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C"/>
                </a:solidFill>
              </a:rPr>
              <a:t>Glazing Area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 rot="16200000">
            <a:off x="338328" y="2596896"/>
            <a:ext cx="201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C"/>
                </a:solidFill>
              </a:rPr>
              <a:t>Heating Load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26034" y="3554730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4120" y="3329330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07444" y="3117190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5531" y="2984602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87906" y="2931566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0280" y="3024378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92654" y="3156966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69316" y="3249778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2968142"/>
            <a:ext cx="2340864" cy="198882"/>
          </a:xfrm>
          <a:prstGeom prst="line">
            <a:avLst/>
          </a:prstGeom>
          <a:noFill/>
          <a:ln w="25400">
            <a:solidFill>
              <a:srgbClr val="D95F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59936"/>
            <a:ext cx="25603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Too rigid. Misses the curvature in the Glazing Area relationship. High bias, low variance.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2121408"/>
            <a:ext cx="274320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121408"/>
            <a:ext cx="2743200" cy="402336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27832" y="2121408"/>
            <a:ext cx="22860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 df -- Balanced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93208" y="2194560"/>
            <a:ext cx="749808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3208" y="21945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OPTIMAL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64408" y="2596896"/>
            <a:ext cx="2523744" cy="1325880"/>
          </a:xfrm>
          <a:prstGeom prst="rect">
            <a:avLst/>
          </a:prstGeom>
          <a:solidFill>
            <a:srgbClr val="F0F4FA"/>
          </a:solidFill>
          <a:ln w="6350">
            <a:solidFill>
              <a:srgbClr val="C8D6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3950208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C"/>
                </a:solidFill>
              </a:rPr>
              <a:t>Glazing Area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 rot="16200000">
            <a:off x="3218688" y="2596896"/>
            <a:ext cx="201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C"/>
                </a:solidFill>
              </a:rPr>
              <a:t>Heating Load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606394" y="3554730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34480" y="3329330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87804" y="3117190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5891" y="2984602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8266" y="2931566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0640" y="3024378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73014" y="3156966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49676" y="3249778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55848" y="3551530"/>
            <a:ext cx="1135685" cy="-583387"/>
          </a:xfrm>
          <a:prstGeom prst="line">
            <a:avLst/>
          </a:prstGeom>
          <a:noFill/>
          <a:ln w="25400">
            <a:solidFill>
              <a:srgbClr val="1E8A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91533" y="2968142"/>
            <a:ext cx="1135685" cy="238658"/>
          </a:xfrm>
          <a:prstGeom prst="line">
            <a:avLst/>
          </a:prstGeom>
          <a:noFill/>
          <a:ln w="25400">
            <a:solidFill>
              <a:srgbClr val="1E8A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4059936"/>
            <a:ext cx="25603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Follows the signal without chasing noise. Balanced bias-variance trade-off.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35040" y="2121408"/>
            <a:ext cx="274320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2121408"/>
            <a:ext cx="274320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2121408"/>
            <a:ext cx="22860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 df -- High Variance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973568" y="2194560"/>
            <a:ext cx="749808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73568" y="21945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OVERFIT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144768" y="2596896"/>
            <a:ext cx="2523744" cy="1325880"/>
          </a:xfrm>
          <a:prstGeom prst="rect">
            <a:avLst/>
          </a:prstGeom>
          <a:solidFill>
            <a:srgbClr val="F0F4FA"/>
          </a:solidFill>
          <a:ln w="6350">
            <a:solidFill>
              <a:srgbClr val="C8D6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44768" y="3950208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C"/>
                </a:solidFill>
              </a:rPr>
              <a:t>Glazing Area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 rot="16200000">
            <a:off x="6099048" y="2596896"/>
            <a:ext cx="201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CC"/>
                </a:solidFill>
              </a:rPr>
              <a:t>Heating Load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486754" y="3554730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14840" y="3329330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68164" y="3117190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96251" y="2984602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48626" y="2931566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01000" y="3024378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53374" y="3156966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30036" y="3249778"/>
            <a:ext cx="73152" cy="73152"/>
          </a:xfrm>
          <a:prstGeom prst="ellipse">
            <a:avLst/>
          </a:prstGeom>
          <a:solidFill>
            <a:srgbClr val="4A90D9">
              <a:alpha val="8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36208" y="3591306"/>
            <a:ext cx="468173" cy="-490576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04381" y="3100730"/>
            <a:ext cx="468173" cy="185623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72554" y="3286354"/>
            <a:ext cx="468173" cy="-397764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40726" y="2888590"/>
            <a:ext cx="468173" cy="304952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08899" y="3193542"/>
            <a:ext cx="468173" cy="132588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26480" y="4059936"/>
            <a:ext cx="25603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Fits individual noise structures. Low bias, high variance -- the beginning of overfitting.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4466"/>
                </a:solidFill>
              </a:rPr>
              <a:t>This figure makes the bias-variance trade-off visible with your own eyes. Every modelling decision is a movement along this curve.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6: Generalised Additive Models -- Semi-parametric Modelling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754880" cy="1572768"/>
          </a:xfrm>
          <a:prstGeom prst="rect">
            <a:avLst/>
          </a:prstGeom>
          <a:solidFill>
            <a:srgbClr val="0F204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778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2"/>
                </a:solidFill>
              </a:rPr>
              <a:t>The GAM Idea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1887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EFF"/>
                </a:solidFill>
              </a:rPr>
              <a:t>Y = α + s₁(x₁) + s₂(x₂) + ... + s_p(x_p) + 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50876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A"/>
                </a:solidFill>
              </a:rPr>
              <a:t>Replace each linear term β_j x_j with an arbitrary smooth function s_j estimated non-parametrically. Effects sum rather than multiply -- making each component directly interpretable.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487168"/>
            <a:ext cx="4754880" cy="566928"/>
          </a:xfrm>
          <a:prstGeom prst="rect">
            <a:avLst/>
          </a:prstGeom>
          <a:solidFill>
            <a:srgbClr val="EDF4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542032"/>
            <a:ext cx="4434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50"/>
                </a:solidFill>
              </a:rPr>
              <a:t>Semi-parametric: the additive structure is parametric; each individual smooth function s_j is non-parametric. Smoothness is selected automatically via Generalised Cross-Validation (GCV).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30368" y="8412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What the Partial Dependence Plots Reveal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30368" y="1207008"/>
            <a:ext cx="36118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30368" y="1207008"/>
            <a:ext cx="73152" cy="859536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128016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X5 Overall Height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76672" y="1554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66"/>
                </a:solidFill>
              </a:rPr>
              <a:t>A near-vertical step -- the GAM captures the discrete 3.5 m vs 7.0 m jump through a continuous non-parametric lens.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30368" y="2157984"/>
            <a:ext cx="36118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30368" y="2157984"/>
            <a:ext cx="73152" cy="859536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6672" y="22311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X7 Glazing Area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76672" y="250545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66"/>
                </a:solidFill>
              </a:rPr>
              <a:t>Positive, curved. First increments of glazing have the largest per-unit impact on heating demand; effect flattens at high glazing.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30368" y="3108960"/>
            <a:ext cx="36118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30368" y="3108960"/>
            <a:ext cx="73152" cy="859536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6672" y="318211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X1 Compactness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76672" y="34564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66"/>
                </a:solidFill>
              </a:rPr>
              <a:t>Non-linear. Both very elongated and very cube-like buildings carry higher heating loads. An optimal mid-range exists.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230368" y="4059936"/>
            <a:ext cx="361188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30368" y="4059936"/>
            <a:ext cx="73152" cy="859536"/>
          </a:xfrm>
          <a:prstGeom prst="rect">
            <a:avLst/>
          </a:prstGeom>
          <a:solidFill>
            <a:srgbClr val="8BA3CC"/>
          </a:solidFill>
          <a:ln w="12700">
            <a:solidFill>
              <a:srgbClr val="8BA3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413308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X6 Orientation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76672" y="44074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66"/>
                </a:solidFill>
              </a:rPr>
              <a:t>Statistically non-significant (p &gt; 0.30). The balanced simulation design averages out cardinal direction effects.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145536"/>
            <a:ext cx="4754880" cy="658368"/>
          </a:xfrm>
          <a:prstGeom prst="rect">
            <a:avLst/>
          </a:prstGeom>
          <a:solidFill>
            <a:srgbClr val="DFFAF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21868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3D35"/>
                </a:solidFill>
              </a:rPr>
              <a:t>Best Regression Performance in the Study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8912" y="34564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D35"/>
                </a:solidFill>
              </a:rPr>
              <a:t>Heating Load: RMSE = 1.12 kWh/m²  |  R² = 0.987        Cooling Load: RMSE = 1.71 kWh/m²  |  R² = 0.968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895344"/>
            <a:ext cx="4754880" cy="1078992"/>
          </a:xfrm>
          <a:prstGeom prst="rect">
            <a:avLst/>
          </a:prstGeom>
          <a:solidFill>
            <a:srgbClr val="FFF7E6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38912" y="3968496"/>
            <a:ext cx="443484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5F4B"/>
                </a:solidFill>
              </a:rPr>
              <a:t>Note on p-values: </a:t>
            </a:r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The pygam library warns that p-values for smooth terms behave correctly only when smoothing parameters are known in advance. When estimated via GCV (as here), p-values tend to be lower than they should be. This does not invalidate the smooth estimates or predictions -- only the formal hypothesis tests.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C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C50"/>
          </a:solidFill>
          <a:ln w="12700">
            <a:solidFill>
              <a:srgbClr val="1A2C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27432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0F2044">
                    <a:alpha val="40000"/>
                  </a:srgbClr>
                </a:solidFill>
              </a:rPr>
              <a:t>04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and Decision Trees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7: Classification -- High Efficiency or Low Efficiency?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2651760"/>
          </a:xfrm>
          <a:prstGeom prst="rect">
            <a:avLst/>
          </a:prstGeom>
          <a:solidFill>
            <a:srgbClr val="0F204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7782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2"/>
                </a:solidFill>
              </a:rPr>
              <a:t>Logistic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2252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A"/>
                </a:solidFill>
              </a:rPr>
              <a:t>For a binary outcome Y ∈ {0,1}, the log-odds are modelled as: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5361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EFF"/>
                </a:solidFill>
              </a:rPr>
              <a:t>log[P(Y=1) / P(Y=0)] = x'β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8470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EFF"/>
                </a:solidFill>
              </a:rPr>
              <a:t>Equivalently: P(Y=1|x) = 1 / (1 + e^{-x'β})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1762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A"/>
                </a:solidFill>
              </a:rPr>
              <a:t>Parameters estimated by maximum likelihood. A member of the Generalised Linear Models family: Bernoulli response distribution with a logit link function.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804672"/>
            <a:ext cx="4389120" cy="2651760"/>
          </a:xfrm>
          <a:prstGeom prst="rect">
            <a:avLst/>
          </a:prstGeom>
          <a:solidFill>
            <a:srgbClr val="FFF7E6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5152" y="87782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5F4B"/>
                </a:solidFill>
              </a:rPr>
              <a:t>A Critical Methodological Correction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45152" y="1225296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Early version: </a:t>
            </a:r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Split at the global median (18.95 kWh/m²). Result: 97% accuracy, 0.99 AUC. Overall Height alone accounted for virtually 100% of predictive power. The classifier learned one rule: is this a tall building?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45152" y="2121408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8A7A"/>
                </a:solidFill>
              </a:rPr>
              <a:t>Corrected version: </a:t>
            </a:r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Define high/low load within each height group using group-specific medians. Now the classifier must use compactness, glazing, and wall configuration to distinguish buildings of the same height.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584448"/>
            <a:ext cx="85953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84448"/>
            <a:ext cx="82296" cy="585216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630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Logistic Regression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912" y="3904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FA5"/>
                </a:solidFill>
              </a:rPr>
              <a:t>Accuracy: 83%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69417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Glazing Area (2.01), Wall Area (1.90), Roof Area (-1.01) are strongest predictors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242816"/>
            <a:ext cx="85953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242816"/>
            <a:ext cx="82296" cy="585216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2885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Decision Tree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912" y="45628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2"/>
                </a:solidFill>
              </a:rPr>
              <a:t>Accuracy: 91%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435254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Non-linear splits allow richer structure. Multiple features contribute meaningfully.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A3CC"/>
                </a:solidFill>
              </a:rPr>
              <a:t>Note: A false negative (predicting low-load when the building will be high-load) is the more costly error -- the mechanical system will be under-specified.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C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C50"/>
          </a:solidFill>
          <a:ln w="12700">
            <a:solidFill>
              <a:srgbClr val="1A2C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27432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0F2044">
                    <a:alpha val="40000"/>
                  </a:srgbClr>
                </a:solidFill>
              </a:rPr>
              <a:t>05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on the same held-out test set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Comparison: A Coherent Progression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</a:rPr>
              <a:t>Test RMSE -- Heating Load (Y1)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189765"/>
            <a:ext cx="768096" cy="1964915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20040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466"/>
                </a:solidFill>
              </a:rPr>
              <a:t>PCR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244629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3.27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289304" y="1520255"/>
            <a:ext cx="768096" cy="1634425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9304" y="320040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466"/>
                </a:solidFill>
              </a:rPr>
              <a:t>OLS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89304" y="1575119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2.72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58568" y="1520255"/>
            <a:ext cx="768096" cy="1634425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58568" y="320040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466"/>
                </a:solidFill>
              </a:rPr>
              <a:t>Ridge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58568" y="1575119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2.72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7832" y="2193254"/>
            <a:ext cx="768096" cy="961426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320040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466"/>
                </a:solidFill>
              </a:rPr>
              <a:t>Poly d=5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27832" y="2248118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1.6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97096" y="2481682"/>
            <a:ext cx="768096" cy="672998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97096" y="320040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466"/>
                </a:solidFill>
              </a:rPr>
              <a:t>GAM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97096" y="253654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1.12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172968"/>
            <a:ext cx="5029200" cy="0"/>
          </a:xfrm>
          <a:prstGeom prst="line">
            <a:avLst/>
          </a:prstGeom>
          <a:noFill/>
          <a:ln w="10160">
            <a:solidFill>
              <a:srgbClr val="AABB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930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C"/>
                </a:solidFill>
              </a:rPr>
              <a:t>kWh/m²  (lower is better)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40680" y="822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</a:rPr>
              <a:t>Full Results Summary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170432"/>
          <a:ext cx="3429000" cy="2651760"/>
        </p:xfrm>
        <a:graphic>
          <a:graphicData uri="http://schemas.openxmlformats.org/drawingml/2006/table">
            <a:tbl>
              <a:tblPr/>
              <a:tblGrid>
                <a:gridCol w="914400"/>
                <a:gridCol w="658368"/>
                <a:gridCol w="621792"/>
                <a:gridCol w="658368"/>
                <a:gridCol w="57607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Y1 RMSE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Y1 R²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Y2 RMSE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Y2 R²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A7A"/>
                          </a:solidFill>
                        </a:rPr>
                        <a:t>GAM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1.12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0.987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1.71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0.968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A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C50"/>
                          </a:solidFill>
                        </a:rPr>
                        <a:t>Poly d=5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1.60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0.974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2.18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0.949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Ridge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2.72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0.924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3.21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0.888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OLS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2.72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0.924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3.21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0.888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PCR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3.27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0.890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3.88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C50"/>
                          </a:solidFill>
                        </a:rPr>
                        <a:t>0.837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440680" y="1170432"/>
            <a:ext cx="3429000" cy="3931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170432"/>
          <a:ext cx="3429000" cy="393192"/>
        </p:xfrm>
        <a:graphic>
          <a:graphicData uri="http://schemas.openxmlformats.org/drawingml/2006/table">
            <a:tbl>
              <a:tblPr/>
              <a:tblGrid>
                <a:gridCol w="914400"/>
                <a:gridCol w="658368"/>
                <a:gridCol w="621792"/>
                <a:gridCol w="658368"/>
                <a:gridCol w="57607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Y1 RMSE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Y1 R²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Y2 RMSE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Y2 R²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274320" y="3767328"/>
            <a:ext cx="8595360" cy="1188720"/>
          </a:xfrm>
          <a:prstGeom prst="rect">
            <a:avLst/>
          </a:prstGeom>
          <a:solidFill>
            <a:srgbClr val="EDF4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438912" y="3858768"/>
            <a:ext cx="827532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The story told by the numbers: </a:t>
            </a:r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</a:rPr>
              <a:t>OLS and Ridge perform identically (collinearity hurts coefficients, not predictions). PCR underperforms -- discarded components carry signal for Y. Polynomial regression makes a substantial jump, confirming non-linear effects. GAM makes a further jump, capturing structure that fixed-degree polynomials still miss. The improvement from OLS (R² = 0.924) to GAM (R² = 0.987) represents a 64% reduction in unexplained variance.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C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C50"/>
          </a:solidFill>
          <a:ln w="12700">
            <a:solidFill>
              <a:srgbClr val="1A2C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27432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0F2044">
                    <a:alpha val="40000"/>
                  </a:srgbClr>
                </a:solidFill>
              </a:rPr>
              <a:t>06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about buildings and about modelling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Buildings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51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251960" cy="438912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04672"/>
            <a:ext cx="404164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Height is the primary energy lever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316736"/>
            <a:ext cx="4041648" cy="1316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A single-storey building will almost always have substantially lower heating and cooling loads than a geometrically equivalent double-storey design. For any architect with a hard energy target, this is the single most impactful geometric decision.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907792"/>
            <a:ext cx="4251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907792"/>
            <a:ext cx="4251960" cy="438912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907792"/>
            <a:ext cx="404164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Compactness matters, but non-linearly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419856"/>
            <a:ext cx="4041648" cy="1316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The GAM smooth for Relative Compactness reveals an optimal range. Neither maximally compact nor maximally elongated minimises energy load. The optimal shape is a moderate rectangular footprint.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804672"/>
            <a:ext cx="4251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804672"/>
            <a:ext cx="4251960" cy="438912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804672"/>
            <a:ext cx="404164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Glazing requires careful management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64608" y="1316736"/>
            <a:ext cx="4041648" cy="1316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More glass increases heating demand. The relationship is non-linear: the first increments of glazing have the largest per-unit impact. Highly glazed buildings need compensating insulation strategies.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907792"/>
            <a:ext cx="4251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07792"/>
            <a:ext cx="4251960" cy="438912"/>
          </a:xfrm>
          <a:prstGeom prst="rect">
            <a:avLst/>
          </a:prstGeom>
          <a:solidFill>
            <a:srgbClr val="8BA3CC"/>
          </a:solidFill>
          <a:ln w="12700">
            <a:solidFill>
              <a:srgbClr val="8BA3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907792"/>
            <a:ext cx="404164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Orientation does not matter in this simulation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64608" y="3419856"/>
            <a:ext cx="4041648" cy="1316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The balanced design of ENB2012 averages out orientation effects. In real buildings at specific sites, orientation matters considerably for solar gain and natural ventilation.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Modelling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51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251960" cy="438912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04672"/>
            <a:ext cx="404164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Multicollinearity inflates uncertainty but not necessarily prediction error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316736"/>
            <a:ext cx="4041648" cy="1316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Ridge and OLS predicted equally well, but for inference, Ridge's more stable coefficients are preferable. The collinearity here is geometric -- a feature of the building physics, not a data quality problem.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907792"/>
            <a:ext cx="4251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907792"/>
            <a:ext cx="4251960" cy="438912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907792"/>
            <a:ext cx="404164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Non-linearity is real and consequential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419856"/>
            <a:ext cx="4041648" cy="1316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The jump from OLS (R² = 0.924) to GAM (R² = 0.987) represents a 64% reduction in unexplained variance. Ignoring non-linearity in this dataset would materially mislead any engineering decision.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804672"/>
            <a:ext cx="4251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804672"/>
            <a:ext cx="4251960" cy="438912"/>
          </a:xfrm>
          <a:prstGeom prst="rect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804672"/>
            <a:ext cx="404164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PCR is not a universal improvement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1316736"/>
            <a:ext cx="4041648" cy="1316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When discarded components carry signal for Y (as here), PCR hurts prediction. Variance in X and covariance with Y are different things. Model selection must always be evaluated empirically on held-out data.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907792"/>
            <a:ext cx="4251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07792"/>
            <a:ext cx="4251960" cy="438912"/>
          </a:xfrm>
          <a:prstGeom prst="rect">
            <a:avLst/>
          </a:prstGeom>
          <a:solidFill>
            <a:srgbClr val="1E8A7A"/>
          </a:solidFill>
          <a:ln w="12700">
            <a:solidFill>
              <a:srgbClr val="1E8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907792"/>
            <a:ext cx="404164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Classification labels must be designed carefully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3419856"/>
            <a:ext cx="4041648" cy="1316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The global-median split produced a trivially easy problem solved by height alone. The corrected within-group split produced a genuinely multivariate problem. Always interrogate whether your target construction is doing what you think it is.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2"/>
          </a:solidFill>
          <a:ln w="12700">
            <a:solidFill>
              <a:srgbClr val="F4A6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62B58">
              <a:alpha val="70000"/>
            </a:srgbClr>
          </a:solidFill>
          <a:ln w="6350">
            <a:solidFill>
              <a:srgbClr val="2A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A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943600" cy="0"/>
          </a:xfrm>
          <a:prstGeom prst="line">
            <a:avLst/>
          </a:prstGeom>
          <a:noFill/>
          <a:ln w="6350">
            <a:solidFill>
              <a:srgbClr val="8BA3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57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EFF"/>
                </a:solidFill>
              </a:rPr>
              <a:t>References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A"/>
                </a:solidFill>
              </a:rPr>
              <a:t>1.  Tsanas, A. and Xifara, A. (2012). Accurate quantitative estimation of energy performance of residential buildings. Energy and Buildings, 49, 560-567.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8163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A"/>
                </a:solidFill>
              </a:rPr>
              <a:t>2.  Hastie, T. and Tibshirani, R. (1986). Generalized additive models. Statistical Science, 1(3), 297-310.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2369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A"/>
                </a:solidFill>
              </a:rPr>
              <a:t>3.  Hoerl, A.E. and Kennard, R.W. (1970). Ridge regression: Biased estimation for nonorthogonal problems. Technometrics, 12(1), 55-67.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A"/>
                </a:solidFill>
              </a:rPr>
              <a:t>4.  Dobson, A.J. and Barnett, A.G. (2018). An Introduction to Generalized Linear Models (4th ed.). Chapman and Hall/CRC.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40782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A"/>
                </a:solidFill>
              </a:rPr>
              <a:t>5.  Wood, S.N. (2017). Generalized Additive Models: An Introduction with R (2nd ed.). Chapman and Hall/CRC.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A"/>
                </a:solidFill>
              </a:rPr>
              <a:t>6.  James, G., Witten, D., Hastie, T. and Tibshirani, R. (2021). An Introduction to Statistical Learning (2nd ed.). Springer.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CC"/>
                </a:solidFill>
              </a:rPr>
              <a:t>DSA 8305: Linear Models  |  Strathmore Institute of Mathematical Sciences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Efficiency of Buildings</dc:title>
  <dc:subject>PptxGenJS Presentation</dc:subject>
  <dc:creator>PptxGenJS</dc:creator>
  <cp:lastModifiedBy>PptxGenJS</cp:lastModifiedBy>
  <cp:revision>1</cp:revision>
  <dcterms:created xsi:type="dcterms:W3CDTF">2026-06-05T12:30:01Z</dcterms:created>
  <dcterms:modified xsi:type="dcterms:W3CDTF">2026-06-05T12:30:01Z</dcterms:modified>
</cp:coreProperties>
</file>