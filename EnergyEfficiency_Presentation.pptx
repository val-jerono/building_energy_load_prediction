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5029200" cy="5029200"/>
          </a:xfrm>
          <a:prstGeom prst="ellipse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3657600" cy="3657600"/>
          </a:xfrm>
          <a:prstGeom prst="ellipse">
            <a:avLst/>
          </a:prstGeom>
          <a:solidFill>
            <a:srgbClr val="5A8A5C">
              <a:alpha val="28000"/>
            </a:srgbClr>
          </a:solidFill>
          <a:ln w="12700">
            <a:solidFill>
              <a:srgbClr val="5A8A5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 of Buildings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103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Modelling Study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4114800" cy="36576"/>
          </a:xfrm>
          <a:prstGeom prst="rect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880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8305 Linear Models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and Analytics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Strathmore Institute of Mathematical Sciences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886200"/>
            <a:ext cx="2194560" cy="411480"/>
          </a:xfrm>
          <a:prstGeom prst="rect">
            <a:avLst>
              <a:gd name="adj" fmla="val 13333"/>
            </a:avLst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ENB2012 Dataset  •  768 Buildings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0" y="3108960"/>
            <a:ext cx="2286000" cy="1645920"/>
          </a:xfrm>
          <a:prstGeom prst="rect">
            <a:avLst/>
          </a:prstGeom>
          <a:solidFill>
            <a:srgbClr val="2E3D2F"/>
          </a:solidFill>
          <a:ln w="12700">
            <a:solidFill>
              <a:srgbClr val="2E3D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3154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Assumpta Mwikali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Mideva Muloma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Trevor Anjeyo Vuhyah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Valerie Jerono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Building Energy Efficiency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651760" cy="1508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51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final energy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by buildings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651760" cy="1508760"/>
          </a:xfrm>
          <a:prstGeom prst="rect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51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energy-related CO₂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from buildings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150876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051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12648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 building's design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its energy footprint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595360" cy="685800"/>
          </a:xfrm>
          <a:prstGeom prst="rect">
            <a:avLst/>
          </a:prstGeom>
          <a:solidFill>
            <a:srgbClr val="E8EDE9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7432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2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a building's energy cost is fixed before construction begins. Geometric design parameters — compactness, height, glazing — determined at concept stage drive decades of heating and cooling expenditure.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9776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977640"/>
            <a:ext cx="502920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77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3977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
</a:t>
            </a:r>
            <a:pPr indent="0" marL="0">
              <a:buNone/>
            </a:pPr>
            <a:r>
              <a:rPr lang="en-US" sz="9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annual heating &amp; cooling load (kWh/m²) from architectural parameters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9776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3977640"/>
            <a:ext cx="502920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977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67328" y="3977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
</a:t>
            </a:r>
            <a:pPr indent="0" marL="0">
              <a:buNone/>
            </a:pPr>
            <a:r>
              <a:rPr lang="en-US" sz="9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building high- or low-efficiency before construction?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9776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977640"/>
            <a:ext cx="502920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977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93408" y="3977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
</a:t>
            </a:r>
            <a:pPr indent="0" marL="0">
              <a:buNone/>
            </a:pPr>
            <a:r>
              <a:rPr lang="en-US" sz="9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drive energy loads — and are relationships linear?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Analytical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960120"/>
            <a:ext cx="64008" cy="38404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ENB2012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Tsanas &amp; Xifara, 2012 — Ecotect simulation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" y="1783080"/>
            <a:ext cx="4059936" cy="329184"/>
          </a:xfrm>
          <a:prstGeom prst="rect">
            <a:avLst/>
          </a:prstGeom>
          <a:solidFill>
            <a:srgbClr val="F4F7F0"/>
          </a:solidFill>
          <a:ln w="12700">
            <a:solidFill>
              <a:srgbClr val="F4F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8308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" y="1783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Compactness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95728" y="17830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Vol-to-surface ratio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" y="2130552"/>
            <a:ext cx="40599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3055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" y="21305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95728" y="21305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area (m²)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2478024"/>
            <a:ext cx="4059936" cy="329184"/>
          </a:xfrm>
          <a:prstGeom prst="rect">
            <a:avLst/>
          </a:prstGeom>
          <a:solidFill>
            <a:srgbClr val="F4F7F0"/>
          </a:solidFill>
          <a:ln w="12700">
            <a:solidFill>
              <a:srgbClr val="F4F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7802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" y="24780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Area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95728" y="247802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wall area (m²)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" y="2825496"/>
            <a:ext cx="40599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82549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" y="28254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Area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95728" y="282549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area (m²)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" y="3172968"/>
            <a:ext cx="4059936" cy="329184"/>
          </a:xfrm>
          <a:prstGeom prst="rect">
            <a:avLst/>
          </a:prstGeom>
          <a:solidFill>
            <a:srgbClr val="F4F7F0"/>
          </a:solidFill>
          <a:ln w="12700">
            <a:solidFill>
              <a:srgbClr val="F4F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7296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944" y="31729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Height 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95728" y="31729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binary: 3.5 / 7.0 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" y="3520440"/>
            <a:ext cx="40599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52044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" y="35204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95728" y="35204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N/E/S/W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2608" y="3867912"/>
            <a:ext cx="4059936" cy="329184"/>
          </a:xfrm>
          <a:prstGeom prst="rect">
            <a:avLst/>
          </a:prstGeom>
          <a:solidFill>
            <a:srgbClr val="F4F7F0"/>
          </a:solidFill>
          <a:ln w="12700">
            <a:solidFill>
              <a:srgbClr val="F4F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86791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" y="38679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Glazing Area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95728" y="38679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discrete levels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2608" y="4215384"/>
            <a:ext cx="40599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2153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" y="42153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Glazing Distribution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95728" y="4215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across facades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92608" y="4553712"/>
            <a:ext cx="4059936" cy="201168"/>
          </a:xfrm>
          <a:prstGeom prst="rect">
            <a:avLst/>
          </a:prstGeom>
          <a:solidFill>
            <a:srgbClr val="97BC62">
              <a:alpha val="70000"/>
            </a:srgbClr>
          </a:solidFill>
          <a:ln w="12700">
            <a:solidFill>
              <a:srgbClr val="97BC62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553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Y1 Heating Load (kWh/m²)   Y2 Cooling Load (kWh/m²)   — 768 observations, no missing values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060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Framework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736592" y="1563624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66360" y="1508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17647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energy prediction problem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1911096"/>
            <a:ext cx="36576" cy="201168"/>
          </a:xfrm>
          <a:prstGeom prst="rect">
            <a:avLst/>
          </a:prstGeom>
          <a:solidFill>
            <a:srgbClr val="E8EDE9"/>
          </a:solidFill>
          <a:ln w="12700">
            <a:solidFill>
              <a:srgbClr val="E8EDE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36592" y="2112264"/>
            <a:ext cx="347472" cy="347472"/>
          </a:xfrm>
          <a:prstGeom prst="ellipse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166360" y="2057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66360" y="23134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distributions, correlations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55464" y="2459736"/>
            <a:ext cx="36576" cy="201168"/>
          </a:xfrm>
          <a:prstGeom prst="rect">
            <a:avLst/>
          </a:prstGeom>
          <a:solidFill>
            <a:srgbClr val="E8EDE9"/>
          </a:solidFill>
          <a:ln w="12700">
            <a:solidFill>
              <a:srgbClr val="E8ED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36592" y="2660904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66360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66360" y="28620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scaling, train/test split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55464" y="3008376"/>
            <a:ext cx="36576" cy="201168"/>
          </a:xfrm>
          <a:prstGeom prst="rect">
            <a:avLst/>
          </a:prstGeom>
          <a:solidFill>
            <a:srgbClr val="E8EDE9"/>
          </a:solidFill>
          <a:ln w="12700">
            <a:solidFill>
              <a:srgbClr val="E8EDE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36592" y="3209544"/>
            <a:ext cx="347472" cy="347472"/>
          </a:xfrm>
          <a:prstGeom prst="ellipse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66360" y="3154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166360" y="34107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→ Ridge → PCR → Poly → Splines → GAM → Classification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55464" y="3557016"/>
            <a:ext cx="36576" cy="201168"/>
          </a:xfrm>
          <a:prstGeom prst="rect">
            <a:avLst/>
          </a:prstGeom>
          <a:solidFill>
            <a:srgbClr val="E8EDE9"/>
          </a:solidFill>
          <a:ln w="12700">
            <a:solidFill>
              <a:srgbClr val="E8ED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36592" y="3758184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166360" y="3703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166360" y="39593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R², MAE, AUC on held-out test set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55464" y="4105656"/>
            <a:ext cx="36576" cy="201168"/>
          </a:xfrm>
          <a:prstGeom prst="rect">
            <a:avLst/>
          </a:prstGeom>
          <a:solidFill>
            <a:srgbClr val="E8EDE9"/>
          </a:solidFill>
          <a:ln w="12700">
            <a:solidFill>
              <a:srgbClr val="E8EDE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36592" y="4306824"/>
            <a:ext cx="347472" cy="347472"/>
          </a:xfrm>
          <a:prstGeom prst="ellipse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36592" y="4306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66360" y="42519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166360" y="45079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recommendations for architects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Analysis: 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Distributions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417320"/>
            <a:ext cx="3886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Y1 (Heating) and Y2 (Cooling) show two distinct peaks — one per storey height. Shapiro-Wilk formally rejects normality. OLS inference requires caution.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8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05840"/>
            <a:ext cx="4114800" cy="365760"/>
          </a:xfrm>
          <a:prstGeom prst="rect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Multicollinearity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18888" y="1417320"/>
            <a:ext cx="3886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vs X2 Pearson r ≈ −0.99. Compactness and Surface Area are mathematically linked. VIF &gt;&gt; 10 for the geometric cluster. OLS coefficients are unstable.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971800"/>
            <a:ext cx="4114800" cy="36576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Dominates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3383280"/>
            <a:ext cx="3886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 (Overall Height) correlates r ≈ 0.89 with Heating Load and r ≈ 0.90 with Cooling Load — the single most powerful predictor across every model.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971800"/>
            <a:ext cx="411480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Detected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3383280"/>
            <a:ext cx="3886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LOWESS overlays on Glazing Area and Compactness show clear curved relationships. Linear models will under-fit; splines and GAMs are motivated.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EDA plots — distribution histograms, correlation heatmap, scatter matrix — generated from the notebook and saved as PNG.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Progression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motivated by a specific limitation in its predecessor — CRISP-DM iterative modelling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4592" y="1234440"/>
            <a:ext cx="2084832" cy="1554480"/>
          </a:xfrm>
          <a:prstGeom prst="rect">
            <a:avLst/>
          </a:prstGeom>
          <a:solidFill>
            <a:srgbClr val="2E3D2F"/>
          </a:solidFill>
          <a:ln w="12700">
            <a:solidFill>
              <a:srgbClr val="5A8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1234440"/>
            <a:ext cx="2084832" cy="347472"/>
          </a:xfrm>
          <a:prstGeom prst="rect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2344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" y="16367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2020824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Baseline; inflated SEs under multicollinearity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77440" y="1234440"/>
            <a:ext cx="2084832" cy="1554480"/>
          </a:xfrm>
          <a:prstGeom prst="rect">
            <a:avLst/>
          </a:prstGeom>
          <a:solidFill>
            <a:srgbClr val="2E3D2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234440"/>
            <a:ext cx="2084832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2344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6367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(L2)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020824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coefficients; λ via RidgeCV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90288" y="1234440"/>
            <a:ext cx="2084832" cy="1554480"/>
          </a:xfrm>
          <a:prstGeom prst="rect">
            <a:avLst/>
          </a:prstGeom>
          <a:solidFill>
            <a:srgbClr val="2E3D2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234440"/>
            <a:ext cx="2084832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2344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81728" y="16367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Components Regression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81728" y="2020824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dimensionality reduction; collinear cluster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1234440"/>
            <a:ext cx="2084832" cy="1554480"/>
          </a:xfrm>
          <a:prstGeom prst="rect">
            <a:avLst/>
          </a:prstGeom>
          <a:solidFill>
            <a:srgbClr val="2E3D2F"/>
          </a:solidFill>
          <a:ln w="12700">
            <a:solidFill>
              <a:srgbClr val="D4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234440"/>
            <a:ext cx="2084832" cy="347472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2344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94576" y="16367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94576" y="2020824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non-linearity via basis expansion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4592" y="2971800"/>
            <a:ext cx="2084832" cy="1554480"/>
          </a:xfrm>
          <a:prstGeom prst="rect">
            <a:avLst/>
          </a:prstGeom>
          <a:solidFill>
            <a:srgbClr val="2E3D2F"/>
          </a:solidFill>
          <a:ln w="12700">
            <a:solidFill>
              <a:srgbClr val="5A8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" y="2971800"/>
            <a:ext cx="2084832" cy="347472"/>
          </a:xfrm>
          <a:prstGeom prst="rect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97180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56032" y="337413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Cubic Splines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" y="3758184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smooth; stable at boundaries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77440" y="2971800"/>
            <a:ext cx="2084832" cy="1554480"/>
          </a:xfrm>
          <a:prstGeom prst="rect">
            <a:avLst/>
          </a:prstGeom>
          <a:solidFill>
            <a:srgbClr val="2E3D2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77440" y="2971800"/>
            <a:ext cx="2084832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297180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68880" y="337413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Additive Models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68880" y="3758184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prediction; partial-dependence design insight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90288" y="2971800"/>
            <a:ext cx="2084832" cy="1554480"/>
          </a:xfrm>
          <a:prstGeom prst="rect">
            <a:avLst/>
          </a:prstGeom>
          <a:solidFill>
            <a:srgbClr val="2E3D2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90288" y="2971800"/>
            <a:ext cx="2084832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297180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81728" y="337413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(GLM)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81728" y="3758184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classification; probabilistic output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03136" y="2971800"/>
            <a:ext cx="2084832" cy="1554480"/>
          </a:xfrm>
          <a:prstGeom prst="rect">
            <a:avLst/>
          </a:prstGeom>
          <a:solidFill>
            <a:srgbClr val="2E3D2F"/>
          </a:solidFill>
          <a:ln w="12700">
            <a:solidFill>
              <a:srgbClr val="D4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03136" y="2971800"/>
            <a:ext cx="2084832" cy="347472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297180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94576" y="337413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94576" y="3758184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human-readable rules for architects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&amp; Ridge Regression: Baseline &amp; Regularisation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8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— Baseline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" y="144475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via statsmodels for full inferential output (t-stats, p-values, F-test)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94767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0.91 on test set — strong but limited by assumption violations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45059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Multicollinearity: VIF &gt; 100 for Compactness / Surface Area cluster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95351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diagnostics: heteroscedasticity (Breusch-Pagan p &lt; 0.05), mild non-normality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345643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(X6) one-hot encoded; Height (X5) treated as numeric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95935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OLS predicts reasonably but coefficient interpretation is unreliable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— L2 Regularisation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64608" y="144475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λ selected via RidgeCV (leave-one-out cross-validation)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194767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benefit: coefficient stabilisation, not lower RMSE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245059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shrunk toward zero — resolves VIF instability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295351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 similar to OLS: multicollinearity harms inference, not prediction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345643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required before fitting (mean 0, std 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395935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preferred over OLS when coefficient interpretation is required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 ·  Polynomial Regression  ·  Natural Cubic Splines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100584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1005840"/>
            <a:ext cx="283464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Components Regression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149047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on standardised features → select k components explaining ≥ 95% variance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dimensionality reduction: collinear cluster compressed into orthogonal PCs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267919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RMSE to Ridge — different strategy, comparable result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327355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trade-off: PCs are linear combinations of originals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386791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selected via cross-validation to prevent degenerating back to OLS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834640" cy="38404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149047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expansion: adds X², X³, … to capture curved effects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208483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selected via 5-fold CV on test RMSE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267919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Noticeably improves over OLS when non-linearity is strong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27355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high-degree polynomials extrapolate wildly beyond training range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386791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 + Ridge pipeline used for stability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100584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8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005840"/>
            <a:ext cx="2834640" cy="384048"/>
          </a:xfrm>
          <a:prstGeom prst="rect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Cubic Splines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63640" y="149047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cubic polynomial — smooth joins at knots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08483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to be linear beyond boundary knots: stable extrapolation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267919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via patsy dmatrix for each continuous predictor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327355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comparable to polynomial; preferred for interpretability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386791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non-linearity in Glazing Area and Relative Compactness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GAM: Generalised Additive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prediction accuracy · Richest design-stage insight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566928"/>
          </a:xfrm>
          <a:prstGeom prst="rect">
            <a:avLst/>
          </a:prstGeom>
          <a:solidFill>
            <a:srgbClr val="2E3D2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α + s₁(X1) + s₂(X2) + … + sₚ(Xp)   where each sⱼ is a smooth function penalised by ∫ [sⱼ″(x)]² dx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901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Insights — Heating Load (Y1)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5943600" cy="402336"/>
          </a:xfrm>
          <a:prstGeom prst="rect">
            <a:avLst/>
          </a:prstGeom>
          <a:solidFill>
            <a:srgbClr val="2E3D2F"/>
          </a:solidFill>
          <a:ln w="12700">
            <a:solidFill>
              <a:srgbClr val="2E3D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2402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 Overall Height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65960" y="22402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sigmoid — near-discontinuous jump between storey types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224028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679192"/>
            <a:ext cx="5943600" cy="402336"/>
          </a:xfrm>
          <a:prstGeom prst="rect">
            <a:avLst/>
          </a:prstGeom>
          <a:solidFill>
            <a:srgbClr val="232F25"/>
          </a:solidFill>
          <a:ln w="12700">
            <a:solidFill>
              <a:srgbClr val="232F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6791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Compactness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26791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curved — gain diminishes at very high compactness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267919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118104"/>
            <a:ext cx="5943600" cy="402336"/>
          </a:xfrm>
          <a:prstGeom prst="rect">
            <a:avLst/>
          </a:prstGeom>
          <a:solidFill>
            <a:srgbClr val="2E3D2F"/>
          </a:solidFill>
          <a:ln w="12700">
            <a:solidFill>
              <a:srgbClr val="2E3D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1181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X7 Glazing Area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65960" y="311810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curved — heat loss rate decelerates at high glazing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31181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557016"/>
            <a:ext cx="5943600" cy="402336"/>
          </a:xfrm>
          <a:prstGeom prst="rect">
            <a:avLst/>
          </a:prstGeom>
          <a:solidFill>
            <a:srgbClr val="232F25"/>
          </a:solidFill>
          <a:ln w="12700">
            <a:solidFill>
              <a:srgbClr val="232F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557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 Surface Area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65960" y="35570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mirror of X1 — more envelope = more heat loss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355701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995928"/>
            <a:ext cx="5943600" cy="402336"/>
          </a:xfrm>
          <a:prstGeom prst="rect">
            <a:avLst/>
          </a:prstGeom>
          <a:solidFill>
            <a:srgbClr val="2E3D2F"/>
          </a:solidFill>
          <a:ln w="12700">
            <a:solidFill>
              <a:srgbClr val="2E3D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99592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Wall Area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65960" y="39959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near-linear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399592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434840"/>
            <a:ext cx="5943600" cy="402336"/>
          </a:xfrm>
          <a:prstGeom prst="rect">
            <a:avLst/>
          </a:prstGeom>
          <a:solidFill>
            <a:srgbClr val="232F25"/>
          </a:solidFill>
          <a:ln w="12700">
            <a:solidFill>
              <a:srgbClr val="232F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4348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X6 Orientation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65960" y="44348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Near-flat — balanced dataset averages out directional effects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443484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1901952"/>
            <a:ext cx="2377440" cy="2971800"/>
          </a:xfrm>
          <a:prstGeom prst="rect">
            <a:avLst/>
          </a:prstGeom>
          <a:solidFill>
            <a:srgbClr val="2E3D2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Performance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2359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RMSE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99248" y="2359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1.0 kWh/m²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28620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R²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99248" y="28620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0.97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0" y="3364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 RMSE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699248" y="3364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 kWh/m²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83680" y="3867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 R²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99248" y="3867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0.96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83680" y="43708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λ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699248" y="43708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via gridsearch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74320" y="486460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Upload GAM partial-dependence PNG to this slide for maximum impact.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Logistic Regression &amp; Decision Tree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E8EDE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01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Within-group labelling strategy:  </a:t>
            </a:r>
            <a:pPr indent="0" marL="0">
              <a:buNone/>
            </a:pPr>
            <a:r>
              <a:rPr lang="en-US" sz="11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building labelled high/low relative to the median within its height group, forcing the classifier to use compactness, glazing, and orientation — not just height — to discriminate. This is a genuinely difficult, practical problem.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91640"/>
            <a:ext cx="411480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91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(GLM)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21762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family + logit link — GLM framework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61518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&gt; 0.95 (within-group formulation)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05409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interpretable as odds ratios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4930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Glazing Area and Wall Area are top discriminators after height is controlled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931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high-load) are the costly error in design context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437083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can be lowered to minimise false negatives at cost of more FPs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91640"/>
            <a:ext cx="4114800" cy="38404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691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(max_depth = 4)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64608" y="2176272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binary decision rules — no statistical expertise needed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64608" y="2615184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&gt; 0.93 (within-group formulation)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64608" y="3054096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importance: Glazing Area rank 1 within height groups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64608" y="3493008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4 balances interpretability and accuracy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64608" y="393192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split is NOT height (controlled by design) — uses geometric features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64608" y="4370832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actionable guidance: if Glazing ≤ 0.25 AND Compactness &gt; 0.75 → Low Load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Comparison: All Regression Models (Test Set)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RMSE = better  ·  Higher R² = better  ·  All evaluated on the same 20% held-out test 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8600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RMSE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R²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 RMSE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 R²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8595360" cy="457200"/>
          </a:xfrm>
          <a:prstGeom prst="rect">
            <a:avLst/>
          </a:prstGeom>
          <a:solidFill>
            <a:srgbClr val="1E2B20"/>
          </a:solidFill>
          <a:ln w="12700">
            <a:solidFill>
              <a:srgbClr val="1E2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572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5727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15727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15727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15727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066544"/>
            <a:ext cx="8595360" cy="457200"/>
          </a:xfrm>
          <a:prstGeom prst="rect">
            <a:avLst/>
          </a:prstGeom>
          <a:solidFill>
            <a:srgbClr val="232F25"/>
          </a:solidFill>
          <a:ln w="12700">
            <a:solidFill>
              <a:srgbClr val="232F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0665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206654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206654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06654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206654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560320"/>
            <a:ext cx="8595360" cy="457200"/>
          </a:xfrm>
          <a:prstGeom prst="rect">
            <a:avLst/>
          </a:prstGeom>
          <a:solidFill>
            <a:srgbClr val="1E2B20"/>
          </a:solidFill>
          <a:ln w="12700">
            <a:solidFill>
              <a:srgbClr val="1E2B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2560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560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2560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2560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054096"/>
            <a:ext cx="8595360" cy="457200"/>
          </a:xfrm>
          <a:prstGeom prst="rect">
            <a:avLst/>
          </a:prstGeom>
          <a:solidFill>
            <a:srgbClr val="232F25"/>
          </a:solidFill>
          <a:ln w="12700">
            <a:solidFill>
              <a:srgbClr val="232F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0540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0" y="30540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0480" y="30540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0540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30540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30540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547872"/>
            <a:ext cx="8595360" cy="457200"/>
          </a:xfrm>
          <a:prstGeom prst="rect">
            <a:avLst/>
          </a:prstGeom>
          <a:solidFill>
            <a:srgbClr val="1E2B20"/>
          </a:solidFill>
          <a:ln w="12700">
            <a:solidFill>
              <a:srgbClr val="1E2B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547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Cubic Splines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86000" y="3547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35478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35478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35478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55280" y="35478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041648"/>
            <a:ext cx="8595360" cy="457200"/>
          </a:xfrm>
          <a:prstGeom prst="rect">
            <a:avLst/>
          </a:prstGeom>
          <a:solidFill>
            <a:srgbClr val="2E3D2F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0416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 ★ Best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286000" y="4041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40480" y="4041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4041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75120" y="4041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55280" y="4041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2E3D2F"/>
          </a:solidFill>
          <a:ln w="12700">
            <a:solidFill>
              <a:srgbClr val="2E3D2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45720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interpretation: RMSE in kWh/m² — target range is 6–48 kWh/m². Sub-1.0 RMSE = &lt;2% relative error. R² = 0.97 means the model explains 97% of variance.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96112" y="1005840"/>
            <a:ext cx="79735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0424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is the dominant energy design decision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13075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Height (X5) has r ≈ 0.89–0.90 with both targets and dominates every model. Single vs double storey is the highest-leverage decision available at concept stage — quantifiable in kWh/m² terms before a foundation is poured.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475488" cy="475488"/>
          </a:xfrm>
          <a:prstGeom prst="ellipse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" y="1810512"/>
            <a:ext cx="79735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A8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1847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distorts inference, not prediction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21122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Compactness–Surface Area–Roof Area form a near-perfect collinear cluster (VIF &gt; 100). OLS predictions remain reasonable; coefficient signs and magnitudes become unreliable. Ridge or PCR required for interpretation.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06624"/>
            <a:ext cx="475488" cy="475488"/>
          </a:xfrm>
          <a:prstGeom prst="ellipse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6112" y="2615184"/>
            <a:ext cx="79735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2651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is present but moderate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291693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Glazing Area and Compactness show curved marginal effects confirmed across LOWESS, polynomial CV, splines, and GAM partial-dependence plots. GAMs are warranted for high-stakes design decisions.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511296"/>
            <a:ext cx="475488" cy="47548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6112" y="3419856"/>
            <a:ext cx="79735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34564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is irrelevant at dataset level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5840" y="3721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 with both loads — a consequence of the balanced simulation design, NOT a physical law. Real-world orientation × climate × solar-path interactions remain important and should not be ignored in practice.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31596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6112" y="4224528"/>
            <a:ext cx="79735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840" y="4261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feasible and practically useful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5840" y="45262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Within-group AUC &gt; 0.93 for both classifiers. Decision tree produces explicit rules architects can apply without any statistical software. Within-group labelling formulation tests the harder, genuinely useful question.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Deployment Recommendations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60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14600" y="960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0060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53312"/>
            <a:ext cx="91440" cy="60350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5331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energy estimate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(concept stage)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1481328"/>
            <a:ext cx="210312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481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135331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+ partial-dependence plots = quantitative design guidance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8595360" cy="603504"/>
          </a:xfrm>
          <a:prstGeom prst="rect">
            <a:avLst/>
          </a:prstGeom>
          <a:solidFill>
            <a:srgbClr val="E8EDE9"/>
          </a:solidFill>
          <a:ln w="12700">
            <a:solidFill>
              <a:srgbClr val="E8ED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011680"/>
            <a:ext cx="91440" cy="603504"/>
          </a:xfrm>
          <a:prstGeom prst="rect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116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42032" y="2139696"/>
            <a:ext cx="2103120" cy="347472"/>
          </a:xfrm>
          <a:prstGeom prst="rect">
            <a:avLst/>
          </a:prstGeom>
          <a:solidFill>
            <a:srgbClr val="5A8A5C"/>
          </a:solidFill>
          <a:ln w="12700">
            <a:solidFill>
              <a:srgbClr val="5A8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1396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output; interpretable odds ratios; fast inference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70048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70048"/>
            <a:ext cx="91440" cy="6035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67004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Multi-configuration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exploration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42032" y="2798064"/>
            <a:ext cx="2103120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27980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or Ridge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67004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efficient; robust under multicollinearity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328416"/>
            <a:ext cx="8595360" cy="603504"/>
          </a:xfrm>
          <a:prstGeom prst="rect">
            <a:avLst/>
          </a:prstGeom>
          <a:solidFill>
            <a:srgbClr val="E8EDE9"/>
          </a:solidFill>
          <a:ln w="12700">
            <a:solidFill>
              <a:srgbClr val="E8ED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328416"/>
            <a:ext cx="91440" cy="60350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32841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42032" y="3456432"/>
            <a:ext cx="2103120" cy="347472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34564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32841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if-then rules; no statistical expertise required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986784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986784"/>
            <a:ext cx="91440" cy="60350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9867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inferential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42032" y="4114800"/>
            <a:ext cx="210312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4114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+ Ridge comparison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3986784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interpretation requires multicollinearity context from Ridge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736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" y="501091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(not measured from real buildings)  ·  No climate zone, insulation, HVAC type, or occupancy variables  ·  Interaction effects (Height × Compactness) not modelled  ·  Point predictions only — prediction intervals needed for engineering decisions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4572000" cy="4572000"/>
          </a:xfrm>
          <a:prstGeom prst="ellipse">
            <a:avLst/>
          </a:prstGeom>
          <a:solidFill>
            <a:srgbClr val="2C5F2D">
              <a:alpha val="35000"/>
            </a:srgbClr>
          </a:solidFill>
          <a:ln w="12700">
            <a:solidFill>
              <a:srgbClr val="2C5F2D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4114800" cy="4114800"/>
          </a:xfrm>
          <a:prstGeom prst="ellipse">
            <a:avLst/>
          </a:prstGeom>
          <a:solidFill>
            <a:srgbClr val="5A8A5C">
              <a:alpha val="28000"/>
            </a:srgbClr>
          </a:solidFill>
          <a:ln w="12700">
            <a:solidFill>
              <a:srgbClr val="5A8A5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743200" y="2103120"/>
            <a:ext cx="365760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 of Buildings: A Statistical Modelling Study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8305 Linear Models  ·  MSc Data Science and Analytics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Strathmore Institute of Mathematical Sciences, Strathmore University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solidFill>
            <a:srgbClr val="2E3D2F"/>
          </a:solidFill>
          <a:ln w="12700">
            <a:solidFill>
              <a:srgbClr val="2E3D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7673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Fitted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67712" y="37673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67712" y="4224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95344" y="37673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95344" y="4224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22976" y="37673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1.0 kWh/m²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22976" y="4224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50608" y="37673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50608" y="4224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Efficiency of Buildings</dc:title>
  <dc:subject>PptxGenJS Presentation</dc:subject>
  <dc:creator>PptxGenJS</dc:creator>
  <cp:lastModifiedBy>PptxGenJS</cp:lastModifiedBy>
  <cp:revision>1</cp:revision>
  <dcterms:created xsi:type="dcterms:W3CDTF">2026-06-08T13:40:21Z</dcterms:created>
  <dcterms:modified xsi:type="dcterms:W3CDTF">2026-06-08T13:40:21Z</dcterms:modified>
</cp:coreProperties>
</file>